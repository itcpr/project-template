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643"/>
  </p:normalViewPr>
  <p:slideViewPr>
    <p:cSldViewPr snapToGrid="0">
      <p:cViewPr>
        <p:scale>
          <a:sx n="103" d="100"/>
          <a:sy n="103" d="100"/>
        </p:scale>
        <p:origin x="68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0FB8E-C27A-D69F-A1E2-1E42FBF99A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7E2F1A-7A10-4A7B-C56B-705138F0D0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CB8A5F-8D67-3303-A6E5-F154032C62BB}"/>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5" name="Footer Placeholder 4">
            <a:extLst>
              <a:ext uri="{FF2B5EF4-FFF2-40B4-BE49-F238E27FC236}">
                <a16:creationId xmlns:a16="http://schemas.microsoft.com/office/drawing/2014/main" id="{B81751EF-30C2-D615-3ACD-BBF586994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AA346-53C0-E437-797F-58359D0E1919}"/>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3245118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7D8EC-03CD-6B4C-EAE0-FE06A138FF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700EA0-5867-98CD-BC54-E2EC560751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49053B-FB17-571A-9F85-8D1293AADA06}"/>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5" name="Footer Placeholder 4">
            <a:extLst>
              <a:ext uri="{FF2B5EF4-FFF2-40B4-BE49-F238E27FC236}">
                <a16:creationId xmlns:a16="http://schemas.microsoft.com/office/drawing/2014/main" id="{0F768A34-236C-56CE-5326-CFFC790501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EACBFA-4AEA-5143-7177-8A4DEDCC01F6}"/>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401470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6977-169D-BC0E-1BE8-FDCECAA17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890646-1A3D-0050-756E-30831F8BE6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3A87CA-C97D-7C66-82B0-DE37EBB2B31A}"/>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5" name="Footer Placeholder 4">
            <a:extLst>
              <a:ext uri="{FF2B5EF4-FFF2-40B4-BE49-F238E27FC236}">
                <a16:creationId xmlns:a16="http://schemas.microsoft.com/office/drawing/2014/main" id="{424EAE62-AE19-855D-F586-496E8996EA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67B3-C14E-B04A-2E45-3F0F8046E310}"/>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798198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C991-3024-D6A5-E3AA-C81F7687A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9C1BC4-F0A5-FC48-F181-9A11F5448B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45264C-1953-175B-CABE-5E9C05E604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B9B679-7CBB-6CD6-37B3-794C626642C6}"/>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6" name="Footer Placeholder 5">
            <a:extLst>
              <a:ext uri="{FF2B5EF4-FFF2-40B4-BE49-F238E27FC236}">
                <a16:creationId xmlns:a16="http://schemas.microsoft.com/office/drawing/2014/main" id="{3FBF987E-B47C-A9E2-C184-AC94722F81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E7F7DF-9916-593A-F2C7-8AA4189B02AE}"/>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4266631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D1B72-E1A0-B978-2C33-9FCF9FDE0F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F83FBC-9E58-B32D-4A92-C3093BD0D2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1E6F02-B07A-5ED5-CCD2-C4E9EB9BBE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9C14E0-C934-F93F-B3DC-D1462D5FF3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52E039-040A-273F-3D43-26CBEB7462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8EFCC0-DF50-B04D-5E3C-C574B43BB17B}"/>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8" name="Footer Placeholder 7">
            <a:extLst>
              <a:ext uri="{FF2B5EF4-FFF2-40B4-BE49-F238E27FC236}">
                <a16:creationId xmlns:a16="http://schemas.microsoft.com/office/drawing/2014/main" id="{5BE2642C-3B8C-82A5-7BD9-76BCB89A56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A54A51-E521-6659-7BCC-6E014D47CD8F}"/>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1728630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C196B-DB55-0036-9CAB-828343719E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4CE4F7-DA54-CBEB-C763-F5301EBC6619}"/>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4" name="Footer Placeholder 3">
            <a:extLst>
              <a:ext uri="{FF2B5EF4-FFF2-40B4-BE49-F238E27FC236}">
                <a16:creationId xmlns:a16="http://schemas.microsoft.com/office/drawing/2014/main" id="{F898E1B7-0D4E-A204-EFF7-3C0BBA48FA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2762A2-D5CE-EE8B-CDF1-E4B2D0DE80BF}"/>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3141349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4BCCA9-04BA-14EE-6559-1E05E9897A6D}"/>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3" name="Footer Placeholder 2">
            <a:extLst>
              <a:ext uri="{FF2B5EF4-FFF2-40B4-BE49-F238E27FC236}">
                <a16:creationId xmlns:a16="http://schemas.microsoft.com/office/drawing/2014/main" id="{D39E7BC2-361B-F431-E08C-9D042A095E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EB045C-D9C3-02C6-0B15-A9851D4C100F}"/>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3634096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99BB-B4B1-0283-44C9-E4D5F4D0D3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E44FB6-47EA-DBE4-94FB-6E1002F591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AA84AA-F3F6-6ADE-6C21-3B4A632AF9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7977BB-E756-9401-76EA-759EFDFA12DC}"/>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6" name="Footer Placeholder 5">
            <a:extLst>
              <a:ext uri="{FF2B5EF4-FFF2-40B4-BE49-F238E27FC236}">
                <a16:creationId xmlns:a16="http://schemas.microsoft.com/office/drawing/2014/main" id="{003F8F16-924A-91A3-5C4C-50A2E5F99E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101491-7BA9-7DF0-6DF6-E3A917331EE3}"/>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881746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22A3-8F35-179D-25C8-9D0932BB3B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923FEA-C934-F313-840C-312052CED3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811CB5-4703-D0EA-6116-B7A7C5EE4E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2A20F0-6983-4E4B-4103-BCFE12C2843E}"/>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6" name="Footer Placeholder 5">
            <a:extLst>
              <a:ext uri="{FF2B5EF4-FFF2-40B4-BE49-F238E27FC236}">
                <a16:creationId xmlns:a16="http://schemas.microsoft.com/office/drawing/2014/main" id="{6C777761-979F-BD46-5785-4C4F33985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DAB71C-83E0-716A-18FF-8A83C6E7F0D8}"/>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782789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A4F6-E833-1206-E3BA-20914D27F0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14C270-2F9B-32BC-D173-311A818034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E5027A-196B-5136-4F50-3446EDD7CB73}"/>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5" name="Footer Placeholder 4">
            <a:extLst>
              <a:ext uri="{FF2B5EF4-FFF2-40B4-BE49-F238E27FC236}">
                <a16:creationId xmlns:a16="http://schemas.microsoft.com/office/drawing/2014/main" id="{7296A891-CCFC-4816-A144-86A8A098F5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25DDD5-AF1C-860B-9639-212213773FB3}"/>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1482644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5B38AF-D615-62BC-BEC2-257BAAF69C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A1E356-A2E2-EB6E-06C8-F63BF528F5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5B670E-9B58-13F9-D6D9-BC398624E5FD}"/>
              </a:ext>
            </a:extLst>
          </p:cNvPr>
          <p:cNvSpPr>
            <a:spLocks noGrp="1"/>
          </p:cNvSpPr>
          <p:nvPr>
            <p:ph type="dt" sz="half" idx="10"/>
          </p:nvPr>
        </p:nvSpPr>
        <p:spPr/>
        <p:txBody>
          <a:bodyPr/>
          <a:lstStyle/>
          <a:p>
            <a:fld id="{0798C796-0DD2-5448-BC20-0D9BCDC8F503}" type="datetimeFigureOut">
              <a:rPr lang="en-US" smtClean="0"/>
              <a:t>12/25/25</a:t>
            </a:fld>
            <a:endParaRPr lang="en-US"/>
          </a:p>
        </p:txBody>
      </p:sp>
      <p:sp>
        <p:nvSpPr>
          <p:cNvPr id="5" name="Footer Placeholder 4">
            <a:extLst>
              <a:ext uri="{FF2B5EF4-FFF2-40B4-BE49-F238E27FC236}">
                <a16:creationId xmlns:a16="http://schemas.microsoft.com/office/drawing/2014/main" id="{507F8EFD-2DF8-C85F-D12D-D834F6486B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F681C0-9179-17A5-9641-56BCAF336289}"/>
              </a:ext>
            </a:extLst>
          </p:cNvPr>
          <p:cNvSpPr>
            <a:spLocks noGrp="1"/>
          </p:cNvSpPr>
          <p:nvPr>
            <p:ph type="sldNum" sz="quarter" idx="12"/>
          </p:nvPr>
        </p:nvSpPr>
        <p:spPr/>
        <p:txBody>
          <a:bodyPr/>
          <a:lstStyle/>
          <a:p>
            <a:fld id="{F82383B9-6E23-1741-B98F-F88F9530ED58}" type="slidenum">
              <a:rPr lang="en-US" smtClean="0"/>
              <a:t>‹#›</a:t>
            </a:fld>
            <a:endParaRPr lang="en-US"/>
          </a:p>
        </p:txBody>
      </p:sp>
    </p:spTree>
    <p:extLst>
      <p:ext uri="{BB962C8B-B14F-4D97-AF65-F5344CB8AC3E}">
        <p14:creationId xmlns:p14="http://schemas.microsoft.com/office/powerpoint/2010/main" val="570544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D3C2C5-B8CE-C310-5DA7-202B40FA8C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79558F-F1EB-BA5C-82A5-DCA2C0908E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A8B624-9B9B-E228-B6A3-16D85371C8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98C796-0DD2-5448-BC20-0D9BCDC8F503}" type="datetimeFigureOut">
              <a:rPr lang="en-US" smtClean="0"/>
              <a:t>12/25/25</a:t>
            </a:fld>
            <a:endParaRPr lang="en-US"/>
          </a:p>
        </p:txBody>
      </p:sp>
      <p:sp>
        <p:nvSpPr>
          <p:cNvPr id="5" name="Footer Placeholder 4">
            <a:extLst>
              <a:ext uri="{FF2B5EF4-FFF2-40B4-BE49-F238E27FC236}">
                <a16:creationId xmlns:a16="http://schemas.microsoft.com/office/drawing/2014/main" id="{5292605B-DB87-F451-473D-DF371DCBF3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5D30D6-D11C-B487-3B55-6E345EA2CE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2383B9-6E23-1741-B98F-F88F9530ED58}" type="slidenum">
              <a:rPr lang="en-US" smtClean="0"/>
              <a:t>‹#›</a:t>
            </a:fld>
            <a:endParaRPr lang="en-US"/>
          </a:p>
        </p:txBody>
      </p:sp>
    </p:spTree>
    <p:extLst>
      <p:ext uri="{BB962C8B-B14F-4D97-AF65-F5344CB8AC3E}">
        <p14:creationId xmlns:p14="http://schemas.microsoft.com/office/powerpoint/2010/main" val="3279663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and white logo&#10;&#10;AI-generated content may be incorrect.">
            <a:extLst>
              <a:ext uri="{FF2B5EF4-FFF2-40B4-BE49-F238E27FC236}">
                <a16:creationId xmlns:a16="http://schemas.microsoft.com/office/drawing/2014/main" id="{5E78D246-0529-5514-D298-8EC077134BDE}"/>
              </a:ext>
            </a:extLst>
          </p:cNvPr>
          <p:cNvPicPr>
            <a:picLocks noGrp="1" noRot="1" noChangeAspect="1" noMove="1" noResize="1" noEditPoints="1" noAdjustHandles="1" noChangeArrowheads="1" noChangeShapeType="1" noCrop="1"/>
          </p:cNvPicPr>
          <p:nvPr/>
        </p:nvPicPr>
        <p:blipFill>
          <a:blip r:embed="rId2"/>
          <a:stretch>
            <a:fillRect/>
          </a:stretch>
        </p:blipFill>
        <p:spPr>
          <a:xfrm>
            <a:off x="5433441" y="87326"/>
            <a:ext cx="1325118" cy="1143239"/>
          </a:xfrm>
          <a:prstGeom prst="rect">
            <a:avLst/>
          </a:prstGeom>
        </p:spPr>
      </p:pic>
      <p:sp>
        <p:nvSpPr>
          <p:cNvPr id="2" name="Title 1">
            <a:extLst>
              <a:ext uri="{FF2B5EF4-FFF2-40B4-BE49-F238E27FC236}">
                <a16:creationId xmlns:a16="http://schemas.microsoft.com/office/drawing/2014/main" id="{D4C217E9-E278-B8B9-5826-A52B9E083096}"/>
              </a:ext>
            </a:extLst>
          </p:cNvPr>
          <p:cNvSpPr>
            <a:spLocks noGrp="1" noRot="1" noMove="1" noResize="1" noEditPoints="1" noAdjustHandles="1" noChangeArrowheads="1" noChangeShapeType="1"/>
          </p:cNvSpPr>
          <p:nvPr>
            <p:ph type="ctrTitle"/>
          </p:nvPr>
        </p:nvSpPr>
        <p:spPr>
          <a:xfrm>
            <a:off x="1524000" y="1341119"/>
            <a:ext cx="9144000" cy="1754315"/>
          </a:xfrm>
        </p:spPr>
        <p:txBody>
          <a:bodyPr>
            <a:normAutofit/>
          </a:bodyPr>
          <a:lstStyle/>
          <a:p>
            <a:r>
              <a:rPr lang="en-US" sz="4800" b="1" dirty="0">
                <a:latin typeface="Arial" panose="020B0604020202020204" pitchFamily="34" charset="0"/>
                <a:cs typeface="Arial" panose="020B0604020202020204" pitchFamily="34" charset="0"/>
              </a:rPr>
              <a:t>Non-Equilibrium Dynamics in Open Quantum Systems</a:t>
            </a:r>
          </a:p>
        </p:txBody>
      </p:sp>
      <p:sp>
        <p:nvSpPr>
          <p:cNvPr id="3" name="Subtitle 2">
            <a:extLst>
              <a:ext uri="{FF2B5EF4-FFF2-40B4-BE49-F238E27FC236}">
                <a16:creationId xmlns:a16="http://schemas.microsoft.com/office/drawing/2014/main" id="{546C2612-EF6B-2BE3-47F8-3EC8CF1C7C7C}"/>
              </a:ext>
            </a:extLst>
          </p:cNvPr>
          <p:cNvSpPr>
            <a:spLocks noGrp="1" noRot="1" noMove="1" noResize="1" noEditPoints="1" noAdjustHandles="1" noChangeArrowheads="1" noChangeShapeType="1"/>
          </p:cNvSpPr>
          <p:nvPr>
            <p:ph type="subTitle" idx="1"/>
          </p:nvPr>
        </p:nvSpPr>
        <p:spPr>
          <a:xfrm>
            <a:off x="1524000" y="3189033"/>
            <a:ext cx="9144000" cy="479933"/>
          </a:xfrm>
        </p:spPr>
        <p:txBody>
          <a:bodyPr/>
          <a:lstStyle/>
          <a:p>
            <a:r>
              <a:rPr lang="en-US" dirty="0">
                <a:latin typeface="Arial" panose="020B0604020202020204" pitchFamily="34" charset="0"/>
                <a:cs typeface="Arial" panose="020B0604020202020204" pitchFamily="34" charset="0"/>
              </a:rPr>
              <a:t>A Computational Approach to Decoherence</a:t>
            </a:r>
          </a:p>
        </p:txBody>
      </p:sp>
      <p:cxnSp>
        <p:nvCxnSpPr>
          <p:cNvPr id="7" name="Straight Connector 6">
            <a:extLst>
              <a:ext uri="{FF2B5EF4-FFF2-40B4-BE49-F238E27FC236}">
                <a16:creationId xmlns:a16="http://schemas.microsoft.com/office/drawing/2014/main" id="{E5FDE992-93F0-02D1-4271-89601472E0A4}"/>
              </a:ext>
            </a:extLst>
          </p:cNvPr>
          <p:cNvCxnSpPr>
            <a:cxnSpLocks noGrp="1" noRot="1" noMove="1" noResize="1" noEditPoints="1" noAdjustHandles="1" noChangeArrowheads="1" noChangeShapeType="1"/>
          </p:cNvCxnSpPr>
          <p:nvPr/>
        </p:nvCxnSpPr>
        <p:spPr>
          <a:xfrm>
            <a:off x="5181600" y="3869263"/>
            <a:ext cx="1828800" cy="0"/>
          </a:xfrm>
          <a:prstGeom prst="line">
            <a:avLst/>
          </a:prstGeom>
          <a:ln w="381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
        <p:nvSpPr>
          <p:cNvPr id="8" name="Subtitle 2">
            <a:extLst>
              <a:ext uri="{FF2B5EF4-FFF2-40B4-BE49-F238E27FC236}">
                <a16:creationId xmlns:a16="http://schemas.microsoft.com/office/drawing/2014/main" id="{69DAD95D-9865-9A63-6ED2-4EAB0A88EB96}"/>
              </a:ext>
            </a:extLst>
          </p:cNvPr>
          <p:cNvSpPr txBox="1">
            <a:spLocks noGrp="1" noRot="1" noMove="1" noResize="1" noEditPoints="1" noAdjustHandles="1" noChangeArrowheads="1" noChangeShapeType="1"/>
          </p:cNvSpPr>
          <p:nvPr/>
        </p:nvSpPr>
        <p:spPr>
          <a:xfrm>
            <a:off x="1524000" y="4145760"/>
            <a:ext cx="9144000" cy="22191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solidFill>
                  <a:schemeClr val="tx1">
                    <a:lumMod val="75000"/>
                    <a:lumOff val="25000"/>
                  </a:schemeClr>
                </a:solidFill>
                <a:latin typeface="Arial" panose="020B0604020202020204" pitchFamily="34" charset="0"/>
                <a:cs typeface="Arial" panose="020B0604020202020204" pitchFamily="34" charset="0"/>
              </a:rPr>
              <a:t>Dr. Alberto John </a:t>
            </a:r>
            <a:r>
              <a:rPr lang="en-US" sz="2000" dirty="0" err="1">
                <a:solidFill>
                  <a:schemeClr val="tx1">
                    <a:lumMod val="75000"/>
                    <a:lumOff val="25000"/>
                  </a:schemeClr>
                </a:solidFill>
                <a:latin typeface="Arial" panose="020B0604020202020204" pitchFamily="34" charset="0"/>
                <a:cs typeface="Arial" panose="020B0604020202020204" pitchFamily="34" charset="0"/>
              </a:rPr>
              <a:t>DoEinstein</a:t>
            </a:r>
            <a:endParaRPr lang="en-US" sz="2000" dirty="0">
              <a:solidFill>
                <a:schemeClr val="tx1">
                  <a:lumMod val="75000"/>
                  <a:lumOff val="25000"/>
                </a:schemeClr>
              </a:solidFill>
              <a:latin typeface="Arial" panose="020B0604020202020204" pitchFamily="34" charset="0"/>
              <a:cs typeface="Arial" panose="020B0604020202020204" pitchFamily="34" charset="0"/>
            </a:endParaRPr>
          </a:p>
          <a:p>
            <a:r>
              <a:rPr lang="en-US" sz="2000" dirty="0">
                <a:solidFill>
                  <a:schemeClr val="tx1">
                    <a:lumMod val="75000"/>
                    <a:lumOff val="25000"/>
                  </a:schemeClr>
                </a:solidFill>
                <a:latin typeface="Arial" panose="020B0604020202020204" pitchFamily="34" charset="0"/>
                <a:cs typeface="Arial" panose="020B0604020202020204" pitchFamily="34" charset="0"/>
              </a:rPr>
              <a:t>Undergrad, Physics Department</a:t>
            </a:r>
          </a:p>
          <a:p>
            <a:r>
              <a:rPr lang="en-US" sz="2000" dirty="0">
                <a:solidFill>
                  <a:schemeClr val="tx1">
                    <a:lumMod val="75000"/>
                    <a:lumOff val="25000"/>
                  </a:schemeClr>
                </a:solidFill>
                <a:latin typeface="Arial" panose="020B0604020202020204" pitchFamily="34" charset="0"/>
                <a:cs typeface="Arial" panose="020B0604020202020204" pitchFamily="34" charset="0"/>
              </a:rPr>
              <a:t>Unknown University, Unknown Place</a:t>
            </a:r>
          </a:p>
          <a:p>
            <a:r>
              <a:rPr lang="en-US" sz="2000" dirty="0">
                <a:solidFill>
                  <a:schemeClr val="tx1">
                    <a:lumMod val="75000"/>
                    <a:lumOff val="25000"/>
                  </a:schemeClr>
                </a:solidFill>
                <a:latin typeface="Arial" panose="020B0604020202020204" pitchFamily="34" charset="0"/>
                <a:cs typeface="Arial" panose="020B0604020202020204" pitchFamily="34" charset="0"/>
              </a:rPr>
              <a:t>Member, Cool Group, ITCPR</a:t>
            </a:r>
          </a:p>
        </p:txBody>
      </p:sp>
      <p:grpSp>
        <p:nvGrpSpPr>
          <p:cNvPr id="4" name="Group 3">
            <a:extLst>
              <a:ext uri="{FF2B5EF4-FFF2-40B4-BE49-F238E27FC236}">
                <a16:creationId xmlns:a16="http://schemas.microsoft.com/office/drawing/2014/main" id="{1B03C651-D66D-4B5B-62BD-BCFBA66B6CD5}"/>
              </a:ext>
            </a:extLst>
          </p:cNvPr>
          <p:cNvGrpSpPr>
            <a:grpSpLocks noGrp="1" noUngrp="1" noRot="1" noMove="1" noResize="1"/>
          </p:cNvGrpSpPr>
          <p:nvPr/>
        </p:nvGrpSpPr>
        <p:grpSpPr>
          <a:xfrm>
            <a:off x="-127322" y="6596390"/>
            <a:ext cx="12465935" cy="261610"/>
            <a:chOff x="-127322" y="6596390"/>
            <a:chExt cx="12465935" cy="261610"/>
          </a:xfrm>
        </p:grpSpPr>
        <p:sp>
          <p:nvSpPr>
            <p:cNvPr id="10" name="TextBox 9">
              <a:extLst>
                <a:ext uri="{FF2B5EF4-FFF2-40B4-BE49-F238E27FC236}">
                  <a16:creationId xmlns:a16="http://schemas.microsoft.com/office/drawing/2014/main" id="{8D604461-C289-CCE9-7E61-6923A6E0F591}"/>
                </a:ext>
              </a:extLst>
            </p:cNvPr>
            <p:cNvSpPr txBox="1">
              <a:spLocks noGrp="1" noRot="1" noMove="1" noResize="1" noEditPoints="1" noAdjustHandles="1" noChangeArrowheads="1" noChangeShapeType="1"/>
            </p:cNvSpPr>
            <p:nvPr/>
          </p:nvSpPr>
          <p:spPr>
            <a:xfrm>
              <a:off x="3537979" y="6596390"/>
              <a:ext cx="5116041"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C2D0D8C-5622-A8ED-3361-4A0E2BC016DB}"/>
                </a:ext>
              </a:extLst>
            </p:cNvPr>
            <p:cNvCxnSpPr>
              <a:cxnSpLocks noGrp="1" noRot="1" noMove="1" noResize="1" noEditPoints="1" noAdjustHandles="1" noChangeArrowheads="1" noChangeShapeType="1"/>
            </p:cNvCxnSpPr>
            <p:nvPr/>
          </p:nvCxnSpPr>
          <p:spPr>
            <a:xfrm>
              <a:off x="-127322" y="6596390"/>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09847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73B8C-F955-7BE9-FEA1-85ED46E78136}"/>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r>
              <a:rPr lang="en-US" sz="4000" b="1" dirty="0">
                <a:latin typeface="Arial" panose="020B0604020202020204" pitchFamily="34" charset="0"/>
                <a:cs typeface="Arial" panose="020B0604020202020204" pitchFamily="34" charset="0"/>
              </a:rPr>
              <a:t>Presentation Outline</a:t>
            </a:r>
            <a:endParaRPr lang="en-US"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3BA8181-6FC4-3D94-B72F-BDA365956188}"/>
              </a:ext>
            </a:extLst>
          </p:cNvPr>
          <p:cNvSpPr>
            <a:spLocks noGrp="1" noRot="1" noMove="1" noResize="1" noEditPoints="1" noAdjustHandles="1" noChangeArrowheads="1" noChangeShapeType="1"/>
          </p:cNvSpPr>
          <p:nvPr>
            <p:ph idx="1"/>
          </p:nvPr>
        </p:nvSpPr>
        <p:spPr>
          <a:xfrm>
            <a:off x="332960" y="1534318"/>
            <a:ext cx="11526077" cy="4790277"/>
          </a:xfrm>
        </p:spPr>
        <p:txBody>
          <a:bodyPr>
            <a:normAutofit/>
          </a:bodyPr>
          <a:lstStyle/>
          <a:p>
            <a:pPr>
              <a:lnSpc>
                <a:spcPct val="150000"/>
              </a:lnSpc>
            </a:pPr>
            <a:r>
              <a:rPr lang="en-US" sz="2000" dirty="0">
                <a:latin typeface="Arial" panose="020B0604020202020204" pitchFamily="34" charset="0"/>
                <a:cs typeface="Arial" panose="020B0604020202020204" pitchFamily="34" charset="0"/>
              </a:rPr>
              <a:t>Introduction: The Open Quantum System Problem</a:t>
            </a:r>
          </a:p>
          <a:p>
            <a:pPr>
              <a:lnSpc>
                <a:spcPct val="150000"/>
              </a:lnSpc>
            </a:pPr>
            <a:r>
              <a:rPr lang="en-US" sz="2000" dirty="0">
                <a:latin typeface="Arial" panose="020B0604020202020204" pitchFamily="34" charset="0"/>
                <a:cs typeface="Arial" panose="020B0604020202020204" pitchFamily="34" charset="0"/>
              </a:rPr>
              <a:t>Theoretical Framework &amp; Hamiltonian Formulation</a:t>
            </a:r>
          </a:p>
          <a:p>
            <a:pPr>
              <a:lnSpc>
                <a:spcPct val="150000"/>
              </a:lnSpc>
            </a:pPr>
            <a:r>
              <a:rPr lang="en-US" sz="2000" dirty="0">
                <a:latin typeface="Arial" panose="020B0604020202020204" pitchFamily="34" charset="0"/>
                <a:cs typeface="Arial" panose="020B0604020202020204" pitchFamily="34" charset="0"/>
              </a:rPr>
              <a:t>Computational Methods: Matrix Product States</a:t>
            </a:r>
          </a:p>
          <a:p>
            <a:pPr>
              <a:lnSpc>
                <a:spcPct val="150000"/>
              </a:lnSpc>
            </a:pPr>
            <a:r>
              <a:rPr lang="en-US" sz="2000" dirty="0">
                <a:latin typeface="Arial" panose="020B0604020202020204" pitchFamily="34" charset="0"/>
                <a:cs typeface="Arial" panose="020B0604020202020204" pitchFamily="34" charset="0"/>
              </a:rPr>
              <a:t>Key Results: Decoherence Timescales</a:t>
            </a:r>
          </a:p>
          <a:p>
            <a:pPr>
              <a:lnSpc>
                <a:spcPct val="150000"/>
              </a:lnSpc>
            </a:pPr>
            <a:r>
              <a:rPr lang="en-US" sz="2000" dirty="0">
                <a:latin typeface="Arial" panose="020B0604020202020204" pitchFamily="34" charset="0"/>
                <a:cs typeface="Arial" panose="020B0604020202020204" pitchFamily="34" charset="0"/>
              </a:rPr>
              <a:t>Conclusion &amp; Future Research Directions</a:t>
            </a:r>
          </a:p>
        </p:txBody>
      </p:sp>
      <p:grpSp>
        <p:nvGrpSpPr>
          <p:cNvPr id="14" name="Group 13">
            <a:extLst>
              <a:ext uri="{FF2B5EF4-FFF2-40B4-BE49-F238E27FC236}">
                <a16:creationId xmlns:a16="http://schemas.microsoft.com/office/drawing/2014/main" id="{CF353136-A6F9-6B74-C5B2-CBA1E3DBB7E7}"/>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95D0E385-D0DB-7224-1EA1-2DF10A7E5198}"/>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284F4A4E-0353-4ED3-B293-86BC40F25636}"/>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CA329463-0521-6183-2B84-51AB01FD1AC8}"/>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15" name="Straight Connector 14">
            <a:extLst>
              <a:ext uri="{FF2B5EF4-FFF2-40B4-BE49-F238E27FC236}">
                <a16:creationId xmlns:a16="http://schemas.microsoft.com/office/drawing/2014/main" id="{22401923-4952-0711-5B39-56F38CCBCCD5}"/>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951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630C-1EC3-1FAF-C7BA-2C55905CD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0B07F-7CC4-381D-604B-41DEC5F39377}"/>
              </a:ext>
            </a:extLst>
          </p:cNvPr>
          <p:cNvSpPr>
            <a:spLocks noGrp="1" noRot="1" noMove="1" noResize="1" noEditPoints="1" noAdjustHandles="1" noChangeArrowheads="1" noChangeShapeType="1"/>
          </p:cNvSpPr>
          <p:nvPr>
            <p:ph type="title"/>
          </p:nvPr>
        </p:nvSpPr>
        <p:spPr>
          <a:xfrm>
            <a:off x="332961" y="2137226"/>
            <a:ext cx="11526078" cy="1325563"/>
          </a:xfrm>
        </p:spPr>
        <p:txBody>
          <a:bodyPr>
            <a:normAutofit/>
          </a:bodyPr>
          <a:lstStyle/>
          <a:p>
            <a:r>
              <a:rPr lang="en-US" sz="4000" b="1" dirty="0">
                <a:latin typeface="Arial" panose="020B0604020202020204" pitchFamily="34" charset="0"/>
                <a:cs typeface="Arial" panose="020B0604020202020204" pitchFamily="34" charset="0"/>
              </a:rPr>
              <a:t>Theoretical Framework</a:t>
            </a:r>
            <a:endParaRPr lang="en-US" sz="4000" dirty="0">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59E7D11B-2626-D5F0-8F81-4587BDD73C6D}"/>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AA680AB0-724C-83AC-C599-FD08D995E70A}"/>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10433F81-9CAC-3749-1704-3628B52D176B}"/>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96725C69-72F1-7B83-153F-B175E4A4772F}"/>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9" name="Subtitle 2">
            <a:extLst>
              <a:ext uri="{FF2B5EF4-FFF2-40B4-BE49-F238E27FC236}">
                <a16:creationId xmlns:a16="http://schemas.microsoft.com/office/drawing/2014/main" id="{1B6267D1-DED0-A9EC-E88E-058D85432669}"/>
              </a:ext>
            </a:extLst>
          </p:cNvPr>
          <p:cNvSpPr txBox="1">
            <a:spLocks noGrp="1" noRot="1" noMove="1" noResize="1" noEditPoints="1" noAdjustHandles="1" noChangeArrowheads="1" noChangeShapeType="1"/>
          </p:cNvSpPr>
          <p:nvPr/>
        </p:nvSpPr>
        <p:spPr>
          <a:xfrm>
            <a:off x="345153" y="3365253"/>
            <a:ext cx="11473652" cy="479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latin typeface="Arial" panose="020B0604020202020204" pitchFamily="34" charset="0"/>
                <a:cs typeface="Arial" panose="020B0604020202020204" pitchFamily="34" charset="0"/>
              </a:rPr>
              <a:t>A Computational Approach to Decoherence</a:t>
            </a:r>
          </a:p>
        </p:txBody>
      </p:sp>
      <p:cxnSp>
        <p:nvCxnSpPr>
          <p:cNvPr id="10" name="Straight Connector 9">
            <a:extLst>
              <a:ext uri="{FF2B5EF4-FFF2-40B4-BE49-F238E27FC236}">
                <a16:creationId xmlns:a16="http://schemas.microsoft.com/office/drawing/2014/main" id="{A9C6ED9C-F6CB-C082-0909-EDF146602D1C}"/>
              </a:ext>
            </a:extLst>
          </p:cNvPr>
          <p:cNvCxnSpPr>
            <a:cxnSpLocks noGrp="1" noRot="1" noMove="1" noResize="1" noEditPoints="1" noAdjustHandles="1" noChangeArrowheads="1" noChangeShapeType="1"/>
          </p:cNvCxnSpPr>
          <p:nvPr/>
        </p:nvCxnSpPr>
        <p:spPr>
          <a:xfrm>
            <a:off x="428322" y="2119849"/>
            <a:ext cx="1828800" cy="0"/>
          </a:xfrm>
          <a:prstGeom prst="line">
            <a:avLst/>
          </a:prstGeom>
          <a:ln w="381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99077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BA10B-1975-EB39-7D26-571406412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14177-C5DF-4691-7979-E7B856DFCEB2}"/>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pPr algn="l">
              <a:spcAft>
                <a:spcPts val="3000"/>
              </a:spcAft>
              <a:buNone/>
            </a:pPr>
            <a:r>
              <a:rPr lang="en-US" sz="4000" b="1" i="0" dirty="0">
                <a:solidFill>
                  <a:srgbClr val="262626"/>
                </a:solidFill>
                <a:effectLst/>
                <a:latin typeface="Arial" panose="020B0604020202020204" pitchFamily="34" charset="0"/>
                <a:cs typeface="Arial" panose="020B0604020202020204" pitchFamily="34" charset="0"/>
              </a:rPr>
              <a:t>Master Equation Dynamics</a:t>
            </a:r>
            <a:endParaRPr lang="en-US" sz="4000" b="0" i="0" dirty="0">
              <a:solidFill>
                <a:srgbClr val="3C3C3C"/>
              </a:solidFill>
              <a:effectLst/>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944AECA-FE9A-89EE-0D45-FF21066C7FEB}"/>
              </a:ext>
            </a:extLst>
          </p:cNvPr>
          <p:cNvSpPr>
            <a:spLocks noGrp="1"/>
          </p:cNvSpPr>
          <p:nvPr>
            <p:ph idx="1"/>
          </p:nvPr>
        </p:nvSpPr>
        <p:spPr>
          <a:xfrm>
            <a:off x="332960" y="2313219"/>
            <a:ext cx="11526077" cy="3620493"/>
          </a:xfrm>
        </p:spPr>
        <p:txBody>
          <a:bodyPr>
            <a:normAutofit/>
          </a:bodyPr>
          <a:lstStyle/>
          <a:p>
            <a:pPr>
              <a:lnSpc>
                <a:spcPct val="150000"/>
              </a:lnSpc>
            </a:pPr>
            <a:r>
              <a:rPr lang="en-US" sz="2000" dirty="0">
                <a:latin typeface="Arial" panose="020B0604020202020204" pitchFamily="34" charset="0"/>
                <a:cs typeface="Arial" panose="020B0604020202020204" pitchFamily="34" charset="0"/>
              </a:rPr>
              <a:t>Dynamics governed by the Lindblad master equation for open systems</a:t>
            </a:r>
          </a:p>
          <a:p>
            <a:pPr>
              <a:lnSpc>
                <a:spcPct val="150000"/>
              </a:lnSpc>
            </a:pPr>
            <a:r>
              <a:rPr lang="en-US" sz="2000" dirty="0">
                <a:latin typeface="Arial" panose="020B0604020202020204" pitchFamily="34" charset="0"/>
                <a:cs typeface="Arial" panose="020B0604020202020204" pitchFamily="34" charset="0"/>
              </a:rPr>
              <a:t>Key assumptions in the derivation:</a:t>
            </a:r>
          </a:p>
          <a:p>
            <a:pPr lvl="1">
              <a:lnSpc>
                <a:spcPct val="150000"/>
              </a:lnSpc>
            </a:pPr>
            <a:r>
              <a:rPr lang="en-US" sz="1600" dirty="0">
                <a:latin typeface="Arial" panose="020B0604020202020204" pitchFamily="34" charset="0"/>
                <a:cs typeface="Arial" panose="020B0604020202020204" pitchFamily="34" charset="0"/>
              </a:rPr>
              <a:t>Weak coupling between system and environment (Born approximation)</a:t>
            </a:r>
          </a:p>
          <a:p>
            <a:pPr lvl="1">
              <a:lnSpc>
                <a:spcPct val="150000"/>
              </a:lnSpc>
            </a:pPr>
            <a:r>
              <a:rPr lang="en-US" sz="1600" dirty="0">
                <a:latin typeface="Arial" panose="020B0604020202020204" pitchFamily="34" charset="0"/>
                <a:cs typeface="Arial" panose="020B0604020202020204" pitchFamily="34" charset="0"/>
              </a:rPr>
              <a:t>Markovian dynamics (memoryless bath correlation functions)</a:t>
            </a:r>
          </a:p>
        </p:txBody>
      </p:sp>
      <p:grpSp>
        <p:nvGrpSpPr>
          <p:cNvPr id="14" name="Group 13">
            <a:extLst>
              <a:ext uri="{FF2B5EF4-FFF2-40B4-BE49-F238E27FC236}">
                <a16:creationId xmlns:a16="http://schemas.microsoft.com/office/drawing/2014/main" id="{E0974758-042A-EFB6-09CC-75ACCB22EA4E}"/>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31DAFE9A-73A8-BBCC-7F82-D3B83C65B7FA}"/>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59A8403F-8A5F-38A2-6BB7-C3B9155462A8}"/>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E9B501CE-FD68-62B5-AE27-9AC6E21DEE80}"/>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8" name="TextBox 7">
            <a:extLst>
              <a:ext uri="{FF2B5EF4-FFF2-40B4-BE49-F238E27FC236}">
                <a16:creationId xmlns:a16="http://schemas.microsoft.com/office/drawing/2014/main" id="{3885E65F-A146-10FB-7A7C-5C298E0C1C18}"/>
              </a:ext>
            </a:extLst>
          </p:cNvPr>
          <p:cNvSpPr txBox="1"/>
          <p:nvPr/>
        </p:nvSpPr>
        <p:spPr>
          <a:xfrm>
            <a:off x="2499629" y="1641101"/>
            <a:ext cx="7192737" cy="523220"/>
          </a:xfrm>
          <a:prstGeom prst="rect">
            <a:avLst/>
          </a:prstGeom>
          <a:noFill/>
        </p:spPr>
        <p:txBody>
          <a:bodyPr wrap="square">
            <a:spAutoFit/>
          </a:bodyPr>
          <a:lstStyle/>
          <a:p>
            <a:pPr algn="ctr"/>
            <a:r>
              <a:rPr lang="en-US" sz="2800" b="0" i="1" dirty="0">
                <a:solidFill>
                  <a:srgbClr val="171717"/>
                </a:solidFill>
                <a:effectLst/>
                <a:latin typeface="Arial" panose="020B0604020202020204" pitchFamily="34" charset="0"/>
                <a:cs typeface="Arial" panose="020B0604020202020204" pitchFamily="34" charset="0"/>
              </a:rPr>
              <a:t>∂</a:t>
            </a:r>
            <a:r>
              <a:rPr lang="en-US" sz="2800" b="0" i="1" baseline="-25000" dirty="0">
                <a:solidFill>
                  <a:srgbClr val="171717"/>
                </a:solidFill>
                <a:effectLst/>
                <a:latin typeface="Arial" panose="020B0604020202020204" pitchFamily="34" charset="0"/>
                <a:cs typeface="Arial" panose="020B0604020202020204" pitchFamily="34" charset="0"/>
              </a:rPr>
              <a:t>t</a:t>
            </a:r>
            <a:r>
              <a:rPr lang="el-GR" sz="2800" b="0" i="1" dirty="0">
                <a:solidFill>
                  <a:srgbClr val="171717"/>
                </a:solidFill>
                <a:effectLst/>
                <a:latin typeface="Arial" panose="020B0604020202020204" pitchFamily="34" charset="0"/>
                <a:cs typeface="Arial" panose="020B0604020202020204" pitchFamily="34" charset="0"/>
              </a:rPr>
              <a:t>ρ = -</a:t>
            </a:r>
            <a:r>
              <a:rPr lang="en-US" sz="2800" b="0" i="1" dirty="0" err="1">
                <a:solidFill>
                  <a:srgbClr val="171717"/>
                </a:solidFill>
                <a:effectLst/>
                <a:latin typeface="Arial" panose="020B0604020202020204" pitchFamily="34" charset="0"/>
                <a:cs typeface="Arial" panose="020B0604020202020204" pitchFamily="34" charset="0"/>
              </a:rPr>
              <a:t>i</a:t>
            </a:r>
            <a:r>
              <a:rPr lang="en-US" sz="2800" b="0" i="1" dirty="0">
                <a:solidFill>
                  <a:srgbClr val="171717"/>
                </a:solidFill>
                <a:effectLst/>
                <a:latin typeface="Arial" panose="020B0604020202020204" pitchFamily="34" charset="0"/>
                <a:cs typeface="Arial" panose="020B0604020202020204" pitchFamily="34" charset="0"/>
              </a:rPr>
              <a:t>[H, </a:t>
            </a:r>
            <a:r>
              <a:rPr lang="el-GR" sz="2800" b="0" i="1" dirty="0">
                <a:solidFill>
                  <a:srgbClr val="171717"/>
                </a:solidFill>
                <a:effectLst/>
                <a:latin typeface="Arial" panose="020B0604020202020204" pitchFamily="34" charset="0"/>
                <a:cs typeface="Arial" panose="020B0604020202020204" pitchFamily="34" charset="0"/>
              </a:rPr>
              <a:t>ρ] + Σ</a:t>
            </a:r>
            <a:r>
              <a:rPr lang="en-US" sz="2800" b="0" i="1" baseline="-25000" dirty="0">
                <a:solidFill>
                  <a:srgbClr val="171717"/>
                </a:solidFill>
                <a:effectLst/>
                <a:latin typeface="Arial" panose="020B0604020202020204" pitchFamily="34" charset="0"/>
                <a:cs typeface="Arial" panose="020B0604020202020204" pitchFamily="34" charset="0"/>
              </a:rPr>
              <a:t>k</a:t>
            </a:r>
            <a:r>
              <a:rPr lang="en-US" sz="2800" b="0" i="1" dirty="0">
                <a:solidFill>
                  <a:srgbClr val="171717"/>
                </a:solidFill>
                <a:effectLst/>
                <a:latin typeface="Arial" panose="020B0604020202020204" pitchFamily="34" charset="0"/>
                <a:cs typeface="Arial" panose="020B0604020202020204" pitchFamily="34" charset="0"/>
              </a:rPr>
              <a:t> </a:t>
            </a:r>
            <a:r>
              <a:rPr lang="el-GR" sz="2800" b="0" i="1" dirty="0">
                <a:solidFill>
                  <a:srgbClr val="171717"/>
                </a:solidFill>
                <a:effectLst/>
                <a:latin typeface="Arial" panose="020B0604020202020204" pitchFamily="34" charset="0"/>
                <a:cs typeface="Arial" panose="020B0604020202020204" pitchFamily="34" charset="0"/>
              </a:rPr>
              <a:t>γ</a:t>
            </a:r>
            <a:r>
              <a:rPr lang="en-US" sz="2800" b="0" i="1" baseline="-25000" dirty="0">
                <a:solidFill>
                  <a:srgbClr val="171717"/>
                </a:solidFill>
                <a:effectLst/>
                <a:latin typeface="Arial" panose="020B0604020202020204" pitchFamily="34" charset="0"/>
                <a:cs typeface="Arial" panose="020B0604020202020204" pitchFamily="34" charset="0"/>
              </a:rPr>
              <a:t>k</a:t>
            </a:r>
            <a:r>
              <a:rPr lang="en-US" sz="2800" b="0" i="1" dirty="0">
                <a:solidFill>
                  <a:srgbClr val="171717"/>
                </a:solidFill>
                <a:effectLst/>
                <a:latin typeface="Arial" panose="020B0604020202020204" pitchFamily="34" charset="0"/>
                <a:cs typeface="Arial" panose="020B0604020202020204" pitchFamily="34" charset="0"/>
              </a:rPr>
              <a:t> (L</a:t>
            </a:r>
            <a:r>
              <a:rPr lang="en-US" sz="2800" b="0" i="1" baseline="-25000" dirty="0">
                <a:solidFill>
                  <a:srgbClr val="171717"/>
                </a:solidFill>
                <a:effectLst/>
                <a:latin typeface="Arial" panose="020B0604020202020204" pitchFamily="34" charset="0"/>
                <a:cs typeface="Arial" panose="020B0604020202020204" pitchFamily="34" charset="0"/>
              </a:rPr>
              <a:t>k</a:t>
            </a:r>
            <a:r>
              <a:rPr lang="el-GR" sz="2800" b="0" i="1" dirty="0">
                <a:solidFill>
                  <a:srgbClr val="171717"/>
                </a:solidFill>
                <a:effectLst/>
                <a:latin typeface="Arial" panose="020B0604020202020204" pitchFamily="34" charset="0"/>
                <a:cs typeface="Arial" panose="020B0604020202020204" pitchFamily="34" charset="0"/>
              </a:rPr>
              <a:t>ρ</a:t>
            </a:r>
            <a:r>
              <a:rPr lang="en-US" sz="2800" b="0" i="1" dirty="0">
                <a:solidFill>
                  <a:srgbClr val="171717"/>
                </a:solidFill>
                <a:effectLst/>
                <a:latin typeface="Arial" panose="020B0604020202020204" pitchFamily="34" charset="0"/>
                <a:cs typeface="Arial" panose="020B0604020202020204" pitchFamily="34" charset="0"/>
              </a:rPr>
              <a:t>L</a:t>
            </a:r>
            <a:r>
              <a:rPr lang="en-US" sz="2800" b="0" i="1" baseline="-25000" dirty="0">
                <a:solidFill>
                  <a:srgbClr val="171717"/>
                </a:solidFill>
                <a:effectLst/>
                <a:latin typeface="Arial" panose="020B0604020202020204" pitchFamily="34" charset="0"/>
                <a:cs typeface="Arial" panose="020B0604020202020204" pitchFamily="34" charset="0"/>
              </a:rPr>
              <a:t>k</a:t>
            </a:r>
            <a:r>
              <a:rPr lang="en-US" sz="2800" b="0" i="1" baseline="30000" dirty="0">
                <a:solidFill>
                  <a:srgbClr val="171717"/>
                </a:solidFill>
                <a:effectLst/>
                <a:latin typeface="Arial" panose="020B0604020202020204" pitchFamily="34" charset="0"/>
                <a:cs typeface="Arial" panose="020B0604020202020204" pitchFamily="34" charset="0"/>
              </a:rPr>
              <a:t>†</a:t>
            </a:r>
            <a:r>
              <a:rPr lang="en-US" sz="2800" b="0" i="1" dirty="0">
                <a:solidFill>
                  <a:srgbClr val="171717"/>
                </a:solidFill>
                <a:effectLst/>
                <a:latin typeface="Arial" panose="020B0604020202020204" pitchFamily="34" charset="0"/>
                <a:cs typeface="Arial" panose="020B0604020202020204" pitchFamily="34" charset="0"/>
              </a:rPr>
              <a:t> - ½{</a:t>
            </a:r>
            <a:r>
              <a:rPr lang="en-US" sz="2800" b="0" i="1" dirty="0" err="1">
                <a:solidFill>
                  <a:srgbClr val="171717"/>
                </a:solidFill>
                <a:effectLst/>
                <a:latin typeface="Arial" panose="020B0604020202020204" pitchFamily="34" charset="0"/>
                <a:cs typeface="Arial" panose="020B0604020202020204" pitchFamily="34" charset="0"/>
              </a:rPr>
              <a:t>L</a:t>
            </a:r>
            <a:r>
              <a:rPr lang="en-US" sz="2800" b="0" i="1" baseline="-25000" dirty="0" err="1">
                <a:solidFill>
                  <a:srgbClr val="171717"/>
                </a:solidFill>
                <a:effectLst/>
                <a:latin typeface="Arial" panose="020B0604020202020204" pitchFamily="34" charset="0"/>
                <a:cs typeface="Arial" panose="020B0604020202020204" pitchFamily="34" charset="0"/>
              </a:rPr>
              <a:t>k</a:t>
            </a:r>
            <a:r>
              <a:rPr lang="en-US" sz="2800" b="0" i="1" baseline="30000" dirty="0" err="1">
                <a:solidFill>
                  <a:srgbClr val="171717"/>
                </a:solidFill>
                <a:effectLst/>
                <a:latin typeface="Arial" panose="020B0604020202020204" pitchFamily="34" charset="0"/>
                <a:cs typeface="Arial" panose="020B0604020202020204" pitchFamily="34" charset="0"/>
              </a:rPr>
              <a:t>†</a:t>
            </a:r>
            <a:r>
              <a:rPr lang="en-US" sz="2800" b="0" i="1" dirty="0" err="1">
                <a:solidFill>
                  <a:srgbClr val="171717"/>
                </a:solidFill>
                <a:effectLst/>
                <a:latin typeface="Arial" panose="020B0604020202020204" pitchFamily="34" charset="0"/>
                <a:cs typeface="Arial" panose="020B0604020202020204" pitchFamily="34" charset="0"/>
              </a:rPr>
              <a:t>L</a:t>
            </a:r>
            <a:r>
              <a:rPr lang="en-US" sz="2800" b="0" i="1" baseline="-25000" dirty="0" err="1">
                <a:solidFill>
                  <a:srgbClr val="171717"/>
                </a:solidFill>
                <a:effectLst/>
                <a:latin typeface="Arial" panose="020B0604020202020204" pitchFamily="34" charset="0"/>
                <a:cs typeface="Arial" panose="020B0604020202020204" pitchFamily="34" charset="0"/>
              </a:rPr>
              <a:t>k</a:t>
            </a:r>
            <a:r>
              <a:rPr lang="en-US" sz="2800" b="0" i="1" dirty="0">
                <a:solidFill>
                  <a:srgbClr val="171717"/>
                </a:solidFill>
                <a:effectLst/>
                <a:latin typeface="Arial" panose="020B0604020202020204" pitchFamily="34" charset="0"/>
                <a:cs typeface="Arial" panose="020B0604020202020204" pitchFamily="34" charset="0"/>
              </a:rPr>
              <a:t>, </a:t>
            </a:r>
            <a:r>
              <a:rPr lang="el-GR" sz="2800" b="0" i="1" dirty="0">
                <a:solidFill>
                  <a:srgbClr val="171717"/>
                </a:solidFill>
                <a:effectLst/>
                <a:latin typeface="Arial" panose="020B0604020202020204" pitchFamily="34" charset="0"/>
                <a:cs typeface="Arial" panose="020B0604020202020204" pitchFamily="34" charset="0"/>
              </a:rPr>
              <a:t>ρ})</a:t>
            </a:r>
            <a:endParaRPr lang="en-US" sz="2800" dirty="0">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1995DDCC-32FB-0715-AB66-92423BB6C26E}"/>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5277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276E7-E9BC-F1D3-7042-EBDED236A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8D45F-238C-C410-831A-C03112420195}"/>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r>
              <a:rPr lang="en-US" sz="4000" b="1" dirty="0">
                <a:latin typeface="Arial" panose="020B0604020202020204" pitchFamily="34" charset="0"/>
                <a:cs typeface="Arial" panose="020B0604020202020204" pitchFamily="34" charset="0"/>
              </a:rPr>
              <a:t>Time Evolution of Entanglement Entropy</a:t>
            </a:r>
          </a:p>
        </p:txBody>
      </p:sp>
      <p:sp>
        <p:nvSpPr>
          <p:cNvPr id="3" name="Content Placeholder 2">
            <a:extLst>
              <a:ext uri="{FF2B5EF4-FFF2-40B4-BE49-F238E27FC236}">
                <a16:creationId xmlns:a16="http://schemas.microsoft.com/office/drawing/2014/main" id="{C798CDFC-03E8-D27C-26D3-8252B653D852}"/>
              </a:ext>
            </a:extLst>
          </p:cNvPr>
          <p:cNvSpPr>
            <a:spLocks noGrp="1"/>
          </p:cNvSpPr>
          <p:nvPr>
            <p:ph idx="1"/>
          </p:nvPr>
        </p:nvSpPr>
        <p:spPr>
          <a:xfrm>
            <a:off x="332961" y="4501821"/>
            <a:ext cx="11526077" cy="1767022"/>
          </a:xfrm>
        </p:spPr>
        <p:txBody>
          <a:bodyPr>
            <a:normAutofit/>
          </a:bodyPr>
          <a:lstStyle/>
          <a:p>
            <a:pPr marL="0" indent="0">
              <a:lnSpc>
                <a:spcPct val="150000"/>
              </a:lnSpc>
              <a:buNone/>
            </a:pPr>
            <a:r>
              <a:rPr lang="en-US" sz="2000" b="1" dirty="0">
                <a:latin typeface="Arial" panose="020B0604020202020204" pitchFamily="34" charset="0"/>
                <a:cs typeface="Arial" panose="020B0604020202020204" pitchFamily="34" charset="0"/>
              </a:rPr>
              <a:t>Figure 1.</a:t>
            </a:r>
            <a:r>
              <a:rPr lang="en-US" sz="2000" dirty="0">
                <a:latin typeface="Arial" panose="020B0604020202020204" pitchFamily="34" charset="0"/>
                <a:cs typeface="Arial" panose="020B0604020202020204" pitchFamily="34" charset="0"/>
              </a:rPr>
              <a:t> Evolution of the von Neumann entropy S(t) for a quenched system. The dashed line represents the theoretical prediction from conformal field theory (CFT), while solid points indicate numerical DMRG results showing saturation at long timescales proportional to the subsystem size.</a:t>
            </a:r>
          </a:p>
        </p:txBody>
      </p:sp>
      <p:grpSp>
        <p:nvGrpSpPr>
          <p:cNvPr id="14" name="Group 13">
            <a:extLst>
              <a:ext uri="{FF2B5EF4-FFF2-40B4-BE49-F238E27FC236}">
                <a16:creationId xmlns:a16="http://schemas.microsoft.com/office/drawing/2014/main" id="{7168339E-BC81-D2C6-270F-1B55CABE0D8F}"/>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F793AD3E-ADD1-A338-285B-7AE7FD19298C}"/>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CA0D901D-8E51-95B4-70CF-1689BD3F1529}"/>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4E8012D6-4827-6243-8222-6AFD52F48718}"/>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pic>
        <p:nvPicPr>
          <p:cNvPr id="1026" name="Picture 2">
            <a:extLst>
              <a:ext uri="{FF2B5EF4-FFF2-40B4-BE49-F238E27FC236}">
                <a16:creationId xmlns:a16="http://schemas.microsoft.com/office/drawing/2014/main" id="{67B034E6-4024-FA26-0D8C-B848468310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378" y="1521618"/>
            <a:ext cx="11173240" cy="292861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BA220CC7-9030-0ADD-64AD-33BDC9FC6543}"/>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439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221CC-F3DD-E0AD-13C9-99E5E1C21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075B8-98A0-A2C4-2B33-B19944EA5269}"/>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r>
              <a:rPr lang="en-US" sz="4000" b="1" dirty="0">
                <a:latin typeface="Arial" panose="020B0604020202020204" pitchFamily="34" charset="0"/>
                <a:cs typeface="Arial" panose="020B0604020202020204" pitchFamily="34" charset="0"/>
              </a:rPr>
              <a:t>Simulation Methodology</a:t>
            </a:r>
          </a:p>
        </p:txBody>
      </p:sp>
      <p:sp>
        <p:nvSpPr>
          <p:cNvPr id="3" name="Content Placeholder 2">
            <a:extLst>
              <a:ext uri="{FF2B5EF4-FFF2-40B4-BE49-F238E27FC236}">
                <a16:creationId xmlns:a16="http://schemas.microsoft.com/office/drawing/2014/main" id="{722E1D31-5827-51DC-3326-6580E694B3E3}"/>
              </a:ext>
            </a:extLst>
          </p:cNvPr>
          <p:cNvSpPr>
            <a:spLocks noGrp="1"/>
          </p:cNvSpPr>
          <p:nvPr>
            <p:ph idx="1"/>
          </p:nvPr>
        </p:nvSpPr>
        <p:spPr>
          <a:xfrm>
            <a:off x="332961" y="3314702"/>
            <a:ext cx="11526077" cy="3124072"/>
          </a:xfrm>
        </p:spPr>
        <p:txBody>
          <a:bodyPr>
            <a:noAutofit/>
          </a:bodyPr>
          <a:lstStyle/>
          <a:p>
            <a:pPr marL="0" indent="0">
              <a:lnSpc>
                <a:spcPct val="150000"/>
              </a:lnSpc>
              <a:buNone/>
            </a:pPr>
            <a:r>
              <a:rPr lang="en-US" sz="2000" dirty="0">
                <a:latin typeface="Arial" panose="020B0604020202020204" pitchFamily="34" charset="0"/>
                <a:cs typeface="Arial" panose="020B0604020202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popularized in the 1960s with the release of Letraset sheets containing Lorem Ipsum passages, and more recently with desktop publishing software like Aldus PageMaker including versions of Lorem Ipsum.</a:t>
            </a:r>
          </a:p>
        </p:txBody>
      </p:sp>
      <p:grpSp>
        <p:nvGrpSpPr>
          <p:cNvPr id="14" name="Group 13">
            <a:extLst>
              <a:ext uri="{FF2B5EF4-FFF2-40B4-BE49-F238E27FC236}">
                <a16:creationId xmlns:a16="http://schemas.microsoft.com/office/drawing/2014/main" id="{E0737228-7C24-6276-12AE-EFD7EBBD52DC}"/>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F8E3CAB3-AF2F-C2FF-EE92-87DF40985BE8}"/>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7E5723E9-8651-666F-D1E2-E6E28C07380A}"/>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C024117E-C715-7CCD-475B-7B4F584BBC56}"/>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9" name="Straight Connector 8">
            <a:extLst>
              <a:ext uri="{FF2B5EF4-FFF2-40B4-BE49-F238E27FC236}">
                <a16:creationId xmlns:a16="http://schemas.microsoft.com/office/drawing/2014/main" id="{7E5A1B34-A11A-0B9B-A544-C150283A9F19}"/>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5CD707F2-F624-296B-052A-CB3981BF9052}"/>
              </a:ext>
            </a:extLst>
          </p:cNvPr>
          <p:cNvGrpSpPr/>
          <p:nvPr/>
        </p:nvGrpSpPr>
        <p:grpSpPr>
          <a:xfrm>
            <a:off x="1014100" y="1616401"/>
            <a:ext cx="1728439" cy="984657"/>
            <a:chOff x="1159727" y="1744855"/>
            <a:chExt cx="1728439" cy="984657"/>
          </a:xfrm>
        </p:grpSpPr>
        <p:sp>
          <p:nvSpPr>
            <p:cNvPr id="5" name="Rectangle 4">
              <a:extLst>
                <a:ext uri="{FF2B5EF4-FFF2-40B4-BE49-F238E27FC236}">
                  <a16:creationId xmlns:a16="http://schemas.microsoft.com/office/drawing/2014/main" id="{DF2932AA-B4BC-4F0C-829F-80D5BE6B281F}"/>
                </a:ext>
              </a:extLst>
            </p:cNvPr>
            <p:cNvSpPr/>
            <p:nvPr/>
          </p:nvSpPr>
          <p:spPr>
            <a:xfrm>
              <a:off x="1159727" y="1848565"/>
              <a:ext cx="1728439" cy="88094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EAEDF2F3-B11E-D720-858B-C13452C2200A}"/>
                </a:ext>
              </a:extLst>
            </p:cNvPr>
            <p:cNvSpPr/>
            <p:nvPr/>
          </p:nvSpPr>
          <p:spPr>
            <a:xfrm>
              <a:off x="1922651" y="1744855"/>
              <a:ext cx="202591" cy="202591"/>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Arial" panose="020B0604020202020204" pitchFamily="34" charset="0"/>
                  <a:cs typeface="Arial" panose="020B0604020202020204" pitchFamily="34" charset="0"/>
                </a:rPr>
                <a:t>1</a:t>
              </a:r>
              <a:endParaRPr lang="en-US" sz="14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BF407E7-DE17-4CC5-1E7F-08B75A9E8601}"/>
                </a:ext>
              </a:extLst>
            </p:cNvPr>
            <p:cNvSpPr txBox="1"/>
            <p:nvPr/>
          </p:nvSpPr>
          <p:spPr>
            <a:xfrm>
              <a:off x="1159728" y="2135150"/>
              <a:ext cx="1728438"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Initialization</a:t>
              </a:r>
              <a:endParaRPr lang="en-US" sz="1600" dirty="0">
                <a:latin typeface="Arial" panose="020B0604020202020204" pitchFamily="34" charset="0"/>
                <a:cs typeface="Arial" panose="020B0604020202020204" pitchFamily="34" charset="0"/>
              </a:endParaRPr>
            </a:p>
          </p:txBody>
        </p:sp>
      </p:grpSp>
      <p:grpSp>
        <p:nvGrpSpPr>
          <p:cNvPr id="13" name="Group 12">
            <a:extLst>
              <a:ext uri="{FF2B5EF4-FFF2-40B4-BE49-F238E27FC236}">
                <a16:creationId xmlns:a16="http://schemas.microsoft.com/office/drawing/2014/main" id="{F1D93A97-4FB5-F93C-9BE3-4736C2E83278}"/>
              </a:ext>
            </a:extLst>
          </p:cNvPr>
          <p:cNvGrpSpPr/>
          <p:nvPr/>
        </p:nvGrpSpPr>
        <p:grpSpPr>
          <a:xfrm>
            <a:off x="3169472" y="1616401"/>
            <a:ext cx="1728439" cy="984657"/>
            <a:chOff x="1159727" y="1744855"/>
            <a:chExt cx="1728439" cy="984657"/>
          </a:xfrm>
        </p:grpSpPr>
        <p:sp>
          <p:nvSpPr>
            <p:cNvPr id="15" name="Rectangle 14">
              <a:extLst>
                <a:ext uri="{FF2B5EF4-FFF2-40B4-BE49-F238E27FC236}">
                  <a16:creationId xmlns:a16="http://schemas.microsoft.com/office/drawing/2014/main" id="{A6CE333D-605A-A682-8FF0-C3701CFEBE80}"/>
                </a:ext>
              </a:extLst>
            </p:cNvPr>
            <p:cNvSpPr/>
            <p:nvPr/>
          </p:nvSpPr>
          <p:spPr>
            <a:xfrm>
              <a:off x="1159727" y="1848565"/>
              <a:ext cx="1728439" cy="88094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6" name="Oval 15">
              <a:extLst>
                <a:ext uri="{FF2B5EF4-FFF2-40B4-BE49-F238E27FC236}">
                  <a16:creationId xmlns:a16="http://schemas.microsoft.com/office/drawing/2014/main" id="{51F31BFF-B347-2B02-C4EF-01DD4CD6D828}"/>
                </a:ext>
              </a:extLst>
            </p:cNvPr>
            <p:cNvSpPr/>
            <p:nvPr/>
          </p:nvSpPr>
          <p:spPr>
            <a:xfrm>
              <a:off x="1922651" y="1744855"/>
              <a:ext cx="202591" cy="202591"/>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9B6E3AB-7EBF-B49A-BCFF-76089129D4A5}"/>
                </a:ext>
              </a:extLst>
            </p:cNvPr>
            <p:cNvSpPr txBox="1"/>
            <p:nvPr/>
          </p:nvSpPr>
          <p:spPr>
            <a:xfrm>
              <a:off x="1159728" y="2135150"/>
              <a:ext cx="1728438"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Algorithm</a:t>
              </a:r>
            </a:p>
          </p:txBody>
        </p:sp>
      </p:grpSp>
      <p:grpSp>
        <p:nvGrpSpPr>
          <p:cNvPr id="18" name="Group 17">
            <a:extLst>
              <a:ext uri="{FF2B5EF4-FFF2-40B4-BE49-F238E27FC236}">
                <a16:creationId xmlns:a16="http://schemas.microsoft.com/office/drawing/2014/main" id="{70A15B04-16D3-A1C1-C9CE-C6D6CDAA031D}"/>
              </a:ext>
            </a:extLst>
          </p:cNvPr>
          <p:cNvGrpSpPr/>
          <p:nvPr/>
        </p:nvGrpSpPr>
        <p:grpSpPr>
          <a:xfrm>
            <a:off x="5324844" y="1616401"/>
            <a:ext cx="1728439" cy="984657"/>
            <a:chOff x="1159727" y="1744855"/>
            <a:chExt cx="1728439" cy="984657"/>
          </a:xfrm>
        </p:grpSpPr>
        <p:sp>
          <p:nvSpPr>
            <p:cNvPr id="19" name="Rectangle 18">
              <a:extLst>
                <a:ext uri="{FF2B5EF4-FFF2-40B4-BE49-F238E27FC236}">
                  <a16:creationId xmlns:a16="http://schemas.microsoft.com/office/drawing/2014/main" id="{65C3F9D8-AB74-E07F-E6F0-BD1DE45CB848}"/>
                </a:ext>
              </a:extLst>
            </p:cNvPr>
            <p:cNvSpPr/>
            <p:nvPr/>
          </p:nvSpPr>
          <p:spPr>
            <a:xfrm>
              <a:off x="1159727" y="1848565"/>
              <a:ext cx="1728439" cy="88094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0" name="Oval 19">
              <a:extLst>
                <a:ext uri="{FF2B5EF4-FFF2-40B4-BE49-F238E27FC236}">
                  <a16:creationId xmlns:a16="http://schemas.microsoft.com/office/drawing/2014/main" id="{CC878E5E-2F86-8307-5942-EE9E11D3E254}"/>
                </a:ext>
              </a:extLst>
            </p:cNvPr>
            <p:cNvSpPr/>
            <p:nvPr/>
          </p:nvSpPr>
          <p:spPr>
            <a:xfrm>
              <a:off x="1922651" y="1744855"/>
              <a:ext cx="202591" cy="202591"/>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8C606C69-EFB8-2747-9398-4FBAB190BCDD}"/>
                </a:ext>
              </a:extLst>
            </p:cNvPr>
            <p:cNvSpPr txBox="1"/>
            <p:nvPr/>
          </p:nvSpPr>
          <p:spPr>
            <a:xfrm>
              <a:off x="1159728" y="2135150"/>
              <a:ext cx="1728438"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Measurement</a:t>
              </a:r>
              <a:endParaRPr lang="en-US" sz="1600" dirty="0">
                <a:latin typeface="Arial" panose="020B0604020202020204" pitchFamily="34" charset="0"/>
                <a:cs typeface="Arial" panose="020B0604020202020204" pitchFamily="34" charset="0"/>
              </a:endParaRPr>
            </a:p>
          </p:txBody>
        </p:sp>
      </p:grpSp>
      <p:grpSp>
        <p:nvGrpSpPr>
          <p:cNvPr id="22" name="Group 21">
            <a:extLst>
              <a:ext uri="{FF2B5EF4-FFF2-40B4-BE49-F238E27FC236}">
                <a16:creationId xmlns:a16="http://schemas.microsoft.com/office/drawing/2014/main" id="{B8059B71-599A-D22A-2CE4-AC1068A8E001}"/>
              </a:ext>
            </a:extLst>
          </p:cNvPr>
          <p:cNvGrpSpPr/>
          <p:nvPr/>
        </p:nvGrpSpPr>
        <p:grpSpPr>
          <a:xfrm>
            <a:off x="7480216" y="1616401"/>
            <a:ext cx="1728439" cy="984657"/>
            <a:chOff x="1159727" y="1744855"/>
            <a:chExt cx="1728439" cy="984657"/>
          </a:xfrm>
        </p:grpSpPr>
        <p:sp>
          <p:nvSpPr>
            <p:cNvPr id="23" name="Rectangle 22">
              <a:extLst>
                <a:ext uri="{FF2B5EF4-FFF2-40B4-BE49-F238E27FC236}">
                  <a16:creationId xmlns:a16="http://schemas.microsoft.com/office/drawing/2014/main" id="{DE31DD11-7554-2A88-4065-9FE7B42E8C07}"/>
                </a:ext>
              </a:extLst>
            </p:cNvPr>
            <p:cNvSpPr/>
            <p:nvPr/>
          </p:nvSpPr>
          <p:spPr>
            <a:xfrm>
              <a:off x="1159727" y="1848565"/>
              <a:ext cx="1728439" cy="88094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7B92E21C-0B36-AB9F-BB9E-398600E7E4C5}"/>
                </a:ext>
              </a:extLst>
            </p:cNvPr>
            <p:cNvSpPr/>
            <p:nvPr/>
          </p:nvSpPr>
          <p:spPr>
            <a:xfrm>
              <a:off x="1922651" y="1744855"/>
              <a:ext cx="202591" cy="202591"/>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Arial" panose="020B0604020202020204" pitchFamily="34" charset="0"/>
                  <a:cs typeface="Arial" panose="020B0604020202020204" pitchFamily="34" charset="0"/>
                </a:rPr>
                <a:t>4</a:t>
              </a:r>
              <a:endParaRPr lang="en-US" sz="14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09AD81C7-0A9F-FEF0-8A4D-9F2F456189D2}"/>
                </a:ext>
              </a:extLst>
            </p:cNvPr>
            <p:cNvSpPr txBox="1"/>
            <p:nvPr/>
          </p:nvSpPr>
          <p:spPr>
            <a:xfrm>
              <a:off x="1159728" y="2135150"/>
              <a:ext cx="1728438"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Analysis</a:t>
              </a:r>
              <a:endParaRPr lang="en-US" sz="1600" dirty="0">
                <a:latin typeface="Arial" panose="020B0604020202020204" pitchFamily="34" charset="0"/>
                <a:cs typeface="Arial" panose="020B0604020202020204" pitchFamily="34" charset="0"/>
              </a:endParaRPr>
            </a:p>
          </p:txBody>
        </p:sp>
      </p:grpSp>
      <p:grpSp>
        <p:nvGrpSpPr>
          <p:cNvPr id="26" name="Group 25">
            <a:extLst>
              <a:ext uri="{FF2B5EF4-FFF2-40B4-BE49-F238E27FC236}">
                <a16:creationId xmlns:a16="http://schemas.microsoft.com/office/drawing/2014/main" id="{DA85882C-7AD3-D724-F544-65457547473A}"/>
              </a:ext>
            </a:extLst>
          </p:cNvPr>
          <p:cNvGrpSpPr/>
          <p:nvPr/>
        </p:nvGrpSpPr>
        <p:grpSpPr>
          <a:xfrm>
            <a:off x="9635588" y="1616401"/>
            <a:ext cx="1728439" cy="984657"/>
            <a:chOff x="1159727" y="1744855"/>
            <a:chExt cx="1728439" cy="984657"/>
          </a:xfrm>
        </p:grpSpPr>
        <p:sp>
          <p:nvSpPr>
            <p:cNvPr id="27" name="Rectangle 26">
              <a:extLst>
                <a:ext uri="{FF2B5EF4-FFF2-40B4-BE49-F238E27FC236}">
                  <a16:creationId xmlns:a16="http://schemas.microsoft.com/office/drawing/2014/main" id="{6E7B9A5A-FD56-53E8-21D4-09459609460B}"/>
                </a:ext>
              </a:extLst>
            </p:cNvPr>
            <p:cNvSpPr/>
            <p:nvPr/>
          </p:nvSpPr>
          <p:spPr>
            <a:xfrm>
              <a:off x="1159727" y="1848565"/>
              <a:ext cx="1728439" cy="88094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945CA25D-DDE7-AA61-33F1-2A3B19585E75}"/>
                </a:ext>
              </a:extLst>
            </p:cNvPr>
            <p:cNvSpPr/>
            <p:nvPr/>
          </p:nvSpPr>
          <p:spPr>
            <a:xfrm>
              <a:off x="1922651" y="1744855"/>
              <a:ext cx="202591" cy="202591"/>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Arial" panose="020B0604020202020204" pitchFamily="34" charset="0"/>
                  <a:cs typeface="Arial" panose="020B0604020202020204" pitchFamily="34" charset="0"/>
                </a:rPr>
                <a:t>5</a:t>
              </a:r>
              <a:endParaRPr lang="en-US" sz="14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263D9DEA-5D87-E88C-E88B-4EE6FD3B78C2}"/>
                </a:ext>
              </a:extLst>
            </p:cNvPr>
            <p:cNvSpPr txBox="1"/>
            <p:nvPr/>
          </p:nvSpPr>
          <p:spPr>
            <a:xfrm>
              <a:off x="1159728" y="2135150"/>
              <a:ext cx="1728438"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Simulation</a:t>
              </a:r>
              <a:endParaRPr lang="en-US" sz="1600" dirty="0">
                <a:latin typeface="Arial" panose="020B0604020202020204" pitchFamily="34" charset="0"/>
                <a:cs typeface="Arial" panose="020B0604020202020204" pitchFamily="34" charset="0"/>
              </a:endParaRPr>
            </a:p>
          </p:txBody>
        </p:sp>
      </p:grpSp>
      <p:cxnSp>
        <p:nvCxnSpPr>
          <p:cNvPr id="31" name="Straight Arrow Connector 30">
            <a:extLst>
              <a:ext uri="{FF2B5EF4-FFF2-40B4-BE49-F238E27FC236}">
                <a16:creationId xmlns:a16="http://schemas.microsoft.com/office/drawing/2014/main" id="{DE80DBC6-3879-8C61-C846-54B55328BBF7}"/>
              </a:ext>
            </a:extLst>
          </p:cNvPr>
          <p:cNvCxnSpPr/>
          <p:nvPr/>
        </p:nvCxnSpPr>
        <p:spPr>
          <a:xfrm>
            <a:off x="2826327" y="2156856"/>
            <a:ext cx="27907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51C2632C-49B3-4436-D8E6-5D8254284DB5}"/>
              </a:ext>
            </a:extLst>
          </p:cNvPr>
          <p:cNvCxnSpPr/>
          <p:nvPr/>
        </p:nvCxnSpPr>
        <p:spPr>
          <a:xfrm>
            <a:off x="4973493" y="2156856"/>
            <a:ext cx="27907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0C85FD8-CE7E-3554-8912-C53900D18E19}"/>
              </a:ext>
            </a:extLst>
          </p:cNvPr>
          <p:cNvCxnSpPr/>
          <p:nvPr/>
        </p:nvCxnSpPr>
        <p:spPr>
          <a:xfrm>
            <a:off x="7144617" y="2159330"/>
            <a:ext cx="27907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1EB0746A-66F5-0530-B66A-E7ED3EFD3B5C}"/>
              </a:ext>
            </a:extLst>
          </p:cNvPr>
          <p:cNvCxnSpPr/>
          <p:nvPr/>
        </p:nvCxnSpPr>
        <p:spPr>
          <a:xfrm>
            <a:off x="9291783" y="2159330"/>
            <a:ext cx="27907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5" name="Content Placeholder 2">
            <a:extLst>
              <a:ext uri="{FF2B5EF4-FFF2-40B4-BE49-F238E27FC236}">
                <a16:creationId xmlns:a16="http://schemas.microsoft.com/office/drawing/2014/main" id="{F68BC25F-FBFF-4E90-A880-9302CEEECF62}"/>
              </a:ext>
            </a:extLst>
          </p:cNvPr>
          <p:cNvSpPr txBox="1">
            <a:spLocks/>
          </p:cNvSpPr>
          <p:nvPr/>
        </p:nvSpPr>
        <p:spPr>
          <a:xfrm>
            <a:off x="1014100" y="2650333"/>
            <a:ext cx="1728439" cy="495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600" dirty="0">
                <a:latin typeface="Arial" panose="020B0604020202020204" pitchFamily="34" charset="0"/>
                <a:cs typeface="Arial" panose="020B0604020202020204" pitchFamily="34" charset="0"/>
              </a:rPr>
              <a:t>Placeholder</a:t>
            </a:r>
          </a:p>
        </p:txBody>
      </p:sp>
      <p:sp>
        <p:nvSpPr>
          <p:cNvPr id="36" name="Content Placeholder 2">
            <a:extLst>
              <a:ext uri="{FF2B5EF4-FFF2-40B4-BE49-F238E27FC236}">
                <a16:creationId xmlns:a16="http://schemas.microsoft.com/office/drawing/2014/main" id="{09A22978-671C-3D88-94ED-9AF88E12717C}"/>
              </a:ext>
            </a:extLst>
          </p:cNvPr>
          <p:cNvSpPr txBox="1">
            <a:spLocks/>
          </p:cNvSpPr>
          <p:nvPr/>
        </p:nvSpPr>
        <p:spPr>
          <a:xfrm>
            <a:off x="3169471" y="2650333"/>
            <a:ext cx="1728439" cy="495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600" dirty="0">
                <a:latin typeface="Arial" panose="020B0604020202020204" pitchFamily="34" charset="0"/>
                <a:cs typeface="Arial" panose="020B0604020202020204" pitchFamily="34" charset="0"/>
              </a:rPr>
              <a:t>Placeholder</a:t>
            </a:r>
          </a:p>
        </p:txBody>
      </p:sp>
      <p:sp>
        <p:nvSpPr>
          <p:cNvPr id="37" name="Content Placeholder 2">
            <a:extLst>
              <a:ext uri="{FF2B5EF4-FFF2-40B4-BE49-F238E27FC236}">
                <a16:creationId xmlns:a16="http://schemas.microsoft.com/office/drawing/2014/main" id="{859F9C2A-F1CE-8ADB-7FEA-32844783A51D}"/>
              </a:ext>
            </a:extLst>
          </p:cNvPr>
          <p:cNvSpPr txBox="1">
            <a:spLocks/>
          </p:cNvSpPr>
          <p:nvPr/>
        </p:nvSpPr>
        <p:spPr>
          <a:xfrm>
            <a:off x="5324845" y="2650333"/>
            <a:ext cx="1728439" cy="495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600" dirty="0">
                <a:latin typeface="Arial" panose="020B0604020202020204" pitchFamily="34" charset="0"/>
                <a:cs typeface="Arial" panose="020B0604020202020204" pitchFamily="34" charset="0"/>
              </a:rPr>
              <a:t>Placeholder</a:t>
            </a:r>
          </a:p>
        </p:txBody>
      </p:sp>
      <p:sp>
        <p:nvSpPr>
          <p:cNvPr id="38" name="Content Placeholder 2">
            <a:extLst>
              <a:ext uri="{FF2B5EF4-FFF2-40B4-BE49-F238E27FC236}">
                <a16:creationId xmlns:a16="http://schemas.microsoft.com/office/drawing/2014/main" id="{D0C51782-247D-504F-0FBF-6D6C457A3AE7}"/>
              </a:ext>
            </a:extLst>
          </p:cNvPr>
          <p:cNvSpPr txBox="1">
            <a:spLocks/>
          </p:cNvSpPr>
          <p:nvPr/>
        </p:nvSpPr>
        <p:spPr>
          <a:xfrm>
            <a:off x="7480216" y="2650333"/>
            <a:ext cx="1728439" cy="495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600" dirty="0">
                <a:latin typeface="Arial" panose="020B0604020202020204" pitchFamily="34" charset="0"/>
                <a:cs typeface="Arial" panose="020B0604020202020204" pitchFamily="34" charset="0"/>
              </a:rPr>
              <a:t>Placeholder</a:t>
            </a:r>
          </a:p>
        </p:txBody>
      </p:sp>
      <p:sp>
        <p:nvSpPr>
          <p:cNvPr id="39" name="Content Placeholder 2">
            <a:extLst>
              <a:ext uri="{FF2B5EF4-FFF2-40B4-BE49-F238E27FC236}">
                <a16:creationId xmlns:a16="http://schemas.microsoft.com/office/drawing/2014/main" id="{B40A4498-6AAE-9C8D-2F95-513F9A96B6B7}"/>
              </a:ext>
            </a:extLst>
          </p:cNvPr>
          <p:cNvSpPr txBox="1">
            <a:spLocks/>
          </p:cNvSpPr>
          <p:nvPr/>
        </p:nvSpPr>
        <p:spPr>
          <a:xfrm>
            <a:off x="9635587" y="2650333"/>
            <a:ext cx="1728439" cy="495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600" dirty="0">
                <a:latin typeface="Arial" panose="020B0604020202020204" pitchFamily="34" charset="0"/>
                <a:cs typeface="Arial" panose="020B0604020202020204" pitchFamily="34" charset="0"/>
              </a:rPr>
              <a:t>Placeholder</a:t>
            </a:r>
          </a:p>
        </p:txBody>
      </p:sp>
    </p:spTree>
    <p:extLst>
      <p:ext uri="{BB962C8B-B14F-4D97-AF65-F5344CB8AC3E}">
        <p14:creationId xmlns:p14="http://schemas.microsoft.com/office/powerpoint/2010/main" val="916057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F4DAB-61A4-FDB5-BEAF-7AF0C4E0F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8DD28-6BAC-BE37-0905-1B3FA853E01F}"/>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pPr algn="l">
              <a:spcAft>
                <a:spcPts val="3000"/>
              </a:spcAft>
              <a:buNone/>
            </a:pPr>
            <a:r>
              <a:rPr lang="en-US" sz="4000" b="1" i="0" dirty="0">
                <a:solidFill>
                  <a:srgbClr val="262626"/>
                </a:solidFill>
                <a:effectLst/>
                <a:latin typeface="Arial" panose="020B0604020202020204" pitchFamily="34" charset="0"/>
                <a:cs typeface="Arial" panose="020B0604020202020204" pitchFamily="34" charset="0"/>
              </a:rPr>
              <a:t>Critical Phenomena &amp; Scaling</a:t>
            </a:r>
            <a:endParaRPr lang="en-US" sz="4000" b="0" i="0" dirty="0">
              <a:solidFill>
                <a:srgbClr val="3C3C3C"/>
              </a:solidFill>
              <a:effectLst/>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412F0E0-74A8-5DB9-6C81-4AB5DA96B3BC}"/>
              </a:ext>
            </a:extLst>
          </p:cNvPr>
          <p:cNvSpPr>
            <a:spLocks noGrp="1"/>
          </p:cNvSpPr>
          <p:nvPr>
            <p:ph idx="1"/>
          </p:nvPr>
        </p:nvSpPr>
        <p:spPr>
          <a:xfrm>
            <a:off x="7734300" y="1535111"/>
            <a:ext cx="4115094" cy="4751375"/>
          </a:xfrm>
        </p:spPr>
        <p:txBody>
          <a:bodyPr>
            <a:normAutofit/>
          </a:bodyPr>
          <a:lstStyle/>
          <a:p>
            <a:r>
              <a:rPr lang="en-US" sz="2000" dirty="0">
                <a:latin typeface="Arial" panose="020B0604020202020204" pitchFamily="34" charset="0"/>
                <a:cs typeface="Arial" panose="020B0604020202020204" pitchFamily="34" charset="0"/>
              </a:rPr>
              <a:t>System exhibits a second-order phase transition at critical temperature </a:t>
            </a:r>
            <a:r>
              <a:rPr lang="en-US" sz="2000" b="1" dirty="0">
                <a:latin typeface="Arial" panose="020B0604020202020204" pitchFamily="34" charset="0"/>
                <a:cs typeface="Arial" panose="020B0604020202020204" pitchFamily="34" charset="0"/>
              </a:rPr>
              <a:t>T</a:t>
            </a:r>
            <a:r>
              <a:rPr lang="en-US" sz="2000" b="1" baseline="-25000" dirty="0">
                <a:latin typeface="Arial" panose="020B0604020202020204" pitchFamily="34" charset="0"/>
                <a:cs typeface="Arial" panose="020B0604020202020204" pitchFamily="34" charset="0"/>
              </a:rPr>
              <a:t>c</a:t>
            </a:r>
            <a:r>
              <a:rPr lang="en-US" sz="2000" b="1" dirty="0">
                <a:latin typeface="Arial" panose="020B0604020202020204" pitchFamily="34" charset="0"/>
                <a:cs typeface="Arial" panose="020B0604020202020204" pitchFamily="34" charset="0"/>
              </a:rPr>
              <a:t> ≈ 2.27</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Near criticality, the order parameter follows a power-law behavior characterized by the exponent </a:t>
            </a:r>
            <a:r>
              <a:rPr lang="el-GR" sz="2000" dirty="0">
                <a:latin typeface="Arial" panose="020B0604020202020204" pitchFamily="34" charset="0"/>
                <a:cs typeface="Arial" panose="020B0604020202020204" pitchFamily="34" charset="0"/>
              </a:rPr>
              <a:t>β.</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Data collapse confirms universality class consistent.</a:t>
            </a:r>
            <a:endParaRPr lang="el-GR" sz="2000" dirty="0">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A9578A92-564C-7DF4-3108-31F70E005F75}"/>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254C18C6-A2A4-A6BD-FB6A-FFBB02CE2231}"/>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388B3FD5-A613-6B50-00E7-9624524FA4E1}"/>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2A76ACBD-2DDA-FD94-3BC7-860D4428D072}"/>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10" name="Straight Connector 9">
            <a:extLst>
              <a:ext uri="{FF2B5EF4-FFF2-40B4-BE49-F238E27FC236}">
                <a16:creationId xmlns:a16="http://schemas.microsoft.com/office/drawing/2014/main" id="{F6836B7E-E0E7-CDF1-0A7B-E51DBAA1FDB8}"/>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3074" name="Picture 2">
            <a:extLst>
              <a:ext uri="{FF2B5EF4-FFF2-40B4-BE49-F238E27FC236}">
                <a16:creationId xmlns:a16="http://schemas.microsoft.com/office/drawing/2014/main" id="{7AE4A26A-116A-C013-398D-0375CCE12F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060" y="1547810"/>
            <a:ext cx="7045679" cy="4751379"/>
          </a:xfrm>
          <a:prstGeom prst="rect">
            <a:avLst/>
          </a:prstGeom>
          <a:solidFill>
            <a:schemeClr val="bg1">
              <a:lumMod val="85000"/>
              <a:alpha val="39892"/>
            </a:schemeClr>
          </a:solidFill>
          <a:ln>
            <a:solidFill>
              <a:schemeClr val="tx1">
                <a:lumMod val="50000"/>
                <a:lumOff val="50000"/>
              </a:schemeClr>
            </a:solidFill>
            <a:prstDash val="sysDot"/>
          </a:ln>
        </p:spPr>
      </p:pic>
    </p:spTree>
    <p:extLst>
      <p:ext uri="{BB962C8B-B14F-4D97-AF65-F5344CB8AC3E}">
        <p14:creationId xmlns:p14="http://schemas.microsoft.com/office/powerpoint/2010/main" val="3499571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CE9E-7540-AB5E-6554-3A89AFE9C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26936-017D-2DE4-9073-9BE3A1D3D6E9}"/>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r>
              <a:rPr lang="en-US" sz="4000" b="1" dirty="0">
                <a:latin typeface="Arial" panose="020B0604020202020204" pitchFamily="34" charset="0"/>
                <a:cs typeface="Arial" panose="020B0604020202020204" pitchFamily="34" charset="0"/>
              </a:rPr>
              <a:t>Numerical Results</a:t>
            </a:r>
          </a:p>
        </p:txBody>
      </p:sp>
      <p:sp>
        <p:nvSpPr>
          <p:cNvPr id="3" name="Content Placeholder 2">
            <a:extLst>
              <a:ext uri="{FF2B5EF4-FFF2-40B4-BE49-F238E27FC236}">
                <a16:creationId xmlns:a16="http://schemas.microsoft.com/office/drawing/2014/main" id="{AE8E74A9-AFD4-F1A2-99D7-6B40CF5CEC24}"/>
              </a:ext>
            </a:extLst>
          </p:cNvPr>
          <p:cNvSpPr>
            <a:spLocks noGrp="1"/>
          </p:cNvSpPr>
          <p:nvPr>
            <p:ph idx="1"/>
          </p:nvPr>
        </p:nvSpPr>
        <p:spPr>
          <a:xfrm>
            <a:off x="332960" y="5044406"/>
            <a:ext cx="11526078" cy="1325564"/>
          </a:xfrm>
        </p:spPr>
        <p:txBody>
          <a:bodyPr>
            <a:normAutofit/>
          </a:bodyPr>
          <a:lstStyle/>
          <a:p>
            <a:r>
              <a:rPr lang="en-US" sz="2000" dirty="0">
                <a:latin typeface="Arial" panose="020B0604020202020204" pitchFamily="34" charset="0"/>
                <a:cs typeface="Arial" panose="020B0604020202020204" pitchFamily="34" charset="0"/>
              </a:rPr>
              <a:t>System exhibits a second-order phase transition at critical temperature </a:t>
            </a:r>
            <a:r>
              <a:rPr lang="en-US" sz="2000" b="1" dirty="0">
                <a:latin typeface="Arial" panose="020B0604020202020204" pitchFamily="34" charset="0"/>
                <a:cs typeface="Arial" panose="020B0604020202020204" pitchFamily="34" charset="0"/>
              </a:rPr>
              <a:t>T</a:t>
            </a:r>
            <a:r>
              <a:rPr lang="en-US" sz="2000" b="1" baseline="-25000" dirty="0">
                <a:latin typeface="Arial" panose="020B0604020202020204" pitchFamily="34" charset="0"/>
                <a:cs typeface="Arial" panose="020B0604020202020204" pitchFamily="34" charset="0"/>
              </a:rPr>
              <a:t>c</a:t>
            </a:r>
            <a:r>
              <a:rPr lang="en-US" sz="2000" b="1" dirty="0">
                <a:latin typeface="Arial" panose="020B0604020202020204" pitchFamily="34" charset="0"/>
                <a:cs typeface="Arial" panose="020B0604020202020204" pitchFamily="34" charset="0"/>
              </a:rPr>
              <a:t> ≈ 2.27</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Near criticality, the order parameter follows a power-law behavior characterized by the exponent </a:t>
            </a:r>
            <a:r>
              <a:rPr lang="el-GR" sz="2000" dirty="0">
                <a:latin typeface="Arial" panose="020B0604020202020204" pitchFamily="34" charset="0"/>
                <a:cs typeface="Arial" panose="020B0604020202020204" pitchFamily="34" charset="0"/>
              </a:rPr>
              <a:t>β.</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Data collapse confirms universality class consistent.</a:t>
            </a:r>
            <a:endParaRPr lang="el-GR" sz="2000" dirty="0">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3FEB2A27-F735-1415-3CD5-DEC7C0DA0CF9}"/>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85BB8568-EC87-25F3-4FCD-83D44068BCD9}"/>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C6933DFF-A938-E0F7-47BB-BC6C871F9328}"/>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8DDBDDDD-1F62-273A-691F-68509083B15F}"/>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10" name="Straight Connector 9">
            <a:extLst>
              <a:ext uri="{FF2B5EF4-FFF2-40B4-BE49-F238E27FC236}">
                <a16:creationId xmlns:a16="http://schemas.microsoft.com/office/drawing/2014/main" id="{790D418A-FA84-BBFD-8C1C-EDD600F0D709}"/>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3074" name="Picture 2">
            <a:extLst>
              <a:ext uri="{FF2B5EF4-FFF2-40B4-BE49-F238E27FC236}">
                <a16:creationId xmlns:a16="http://schemas.microsoft.com/office/drawing/2014/main" id="{4B178B91-A3C1-2277-3205-D25F6DA118FA}"/>
              </a:ext>
            </a:extLst>
          </p:cNvPr>
          <p:cNvPicPr>
            <a:picLocks noChangeAspect="1" noChangeArrowheads="1"/>
          </p:cNvPicPr>
          <p:nvPr/>
        </p:nvPicPr>
        <p:blipFill>
          <a:blip r:embed="rId3"/>
          <a:srcRect/>
          <a:stretch/>
        </p:blipFill>
        <p:spPr bwMode="auto">
          <a:xfrm>
            <a:off x="298237" y="1495418"/>
            <a:ext cx="5763038" cy="3288512"/>
          </a:xfrm>
          <a:prstGeom prst="rect">
            <a:avLst/>
          </a:prstGeom>
          <a:solidFill>
            <a:schemeClr val="bg1">
              <a:lumMod val="85000"/>
              <a:alpha val="39892"/>
            </a:schemeClr>
          </a:solidFill>
          <a:ln>
            <a:solidFill>
              <a:schemeClr val="tx1">
                <a:lumMod val="50000"/>
                <a:lumOff val="50000"/>
              </a:schemeClr>
            </a:solidFill>
            <a:prstDash val="sysDot"/>
          </a:ln>
        </p:spPr>
      </p:pic>
      <p:pic>
        <p:nvPicPr>
          <p:cNvPr id="5" name="Picture 2">
            <a:extLst>
              <a:ext uri="{FF2B5EF4-FFF2-40B4-BE49-F238E27FC236}">
                <a16:creationId xmlns:a16="http://schemas.microsoft.com/office/drawing/2014/main" id="{F0906629-F2B8-B66D-925B-20250CCCA251}"/>
              </a:ext>
            </a:extLst>
          </p:cNvPr>
          <p:cNvPicPr>
            <a:picLocks noChangeAspect="1" noChangeArrowheads="1"/>
          </p:cNvPicPr>
          <p:nvPr/>
        </p:nvPicPr>
        <p:blipFill>
          <a:blip r:embed="rId4"/>
          <a:srcRect/>
          <a:stretch/>
        </p:blipFill>
        <p:spPr bwMode="auto">
          <a:xfrm>
            <a:off x="6121911" y="1496523"/>
            <a:ext cx="5763035" cy="3288512"/>
          </a:xfrm>
          <a:prstGeom prst="rect">
            <a:avLst/>
          </a:prstGeom>
          <a:solidFill>
            <a:schemeClr val="bg1">
              <a:lumMod val="85000"/>
              <a:alpha val="39892"/>
            </a:schemeClr>
          </a:solidFill>
          <a:ln>
            <a:solidFill>
              <a:schemeClr val="tx1">
                <a:lumMod val="50000"/>
                <a:lumOff val="50000"/>
              </a:schemeClr>
            </a:solidFill>
            <a:prstDash val="sysDot"/>
          </a:ln>
        </p:spPr>
      </p:pic>
    </p:spTree>
    <p:extLst>
      <p:ext uri="{BB962C8B-B14F-4D97-AF65-F5344CB8AC3E}">
        <p14:creationId xmlns:p14="http://schemas.microsoft.com/office/powerpoint/2010/main" val="2615259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C13C7-7C74-9BBD-105C-9B845CCD6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2B3C3-1D4C-F50C-8E7B-66111C47CF9F}"/>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r>
              <a:rPr lang="en-US" sz="4000" b="1" dirty="0">
                <a:latin typeface="Arial" panose="020B0604020202020204" pitchFamily="34" charset="0"/>
                <a:cs typeface="Arial" panose="020B0604020202020204" pitchFamily="34" charset="0"/>
              </a:rPr>
              <a:t>Conclusion &amp; Outlook</a:t>
            </a:r>
          </a:p>
        </p:txBody>
      </p:sp>
      <p:grpSp>
        <p:nvGrpSpPr>
          <p:cNvPr id="14" name="Group 13">
            <a:extLst>
              <a:ext uri="{FF2B5EF4-FFF2-40B4-BE49-F238E27FC236}">
                <a16:creationId xmlns:a16="http://schemas.microsoft.com/office/drawing/2014/main" id="{2DB1BBD7-5BD1-044A-7CFF-8C9994E137A6}"/>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BB852C5C-4E94-C3B0-388A-70508D97A7E3}"/>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AFCBB913-C2E7-AE0F-0BA1-C11D219777C3}"/>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72A37DB0-1ECB-41D3-1FCF-6125647C520B}"/>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10" name="Straight Connector 9">
            <a:extLst>
              <a:ext uri="{FF2B5EF4-FFF2-40B4-BE49-F238E27FC236}">
                <a16:creationId xmlns:a16="http://schemas.microsoft.com/office/drawing/2014/main" id="{D8A3514E-6875-D298-B41A-A398CA141687}"/>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C89D3CC0-9A4D-30C6-FBC0-1217734C6A79}"/>
              </a:ext>
            </a:extLst>
          </p:cNvPr>
          <p:cNvSpPr txBox="1">
            <a:spLocks/>
          </p:cNvSpPr>
          <p:nvPr/>
        </p:nvSpPr>
        <p:spPr>
          <a:xfrm>
            <a:off x="6339837" y="1497946"/>
            <a:ext cx="5519201" cy="48703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B8FE5DB4-FB27-8F5D-4632-58F8E2869D7D}"/>
              </a:ext>
            </a:extLst>
          </p:cNvPr>
          <p:cNvGrpSpPr>
            <a:grpSpLocks noGrp="1" noUngrp="1" noRot="1" noMove="1" noResize="1"/>
          </p:cNvGrpSpPr>
          <p:nvPr/>
        </p:nvGrpSpPr>
        <p:grpSpPr>
          <a:xfrm>
            <a:off x="332960" y="1426194"/>
            <a:ext cx="5519200" cy="4943775"/>
            <a:chOff x="332960" y="1426194"/>
            <a:chExt cx="5519200" cy="4943775"/>
          </a:xfrm>
        </p:grpSpPr>
        <p:sp>
          <p:nvSpPr>
            <p:cNvPr id="3" name="Content Placeholder 2">
              <a:extLst>
                <a:ext uri="{FF2B5EF4-FFF2-40B4-BE49-F238E27FC236}">
                  <a16:creationId xmlns:a16="http://schemas.microsoft.com/office/drawing/2014/main" id="{B02CA3E6-3C10-F1FF-0815-1E790DEA0DD7}"/>
                </a:ext>
              </a:extLst>
            </p:cNvPr>
            <p:cNvSpPr>
              <a:spLocks noGrp="1" noRot="1" noMove="1" noResize="1" noEditPoints="1" noAdjustHandles="1" noChangeArrowheads="1" noChangeShapeType="1"/>
            </p:cNvSpPr>
            <p:nvPr>
              <p:ph idx="1"/>
            </p:nvPr>
          </p:nvSpPr>
          <p:spPr>
            <a:xfrm>
              <a:off x="332960" y="2133632"/>
              <a:ext cx="5519200" cy="4236337"/>
            </a:xfrm>
          </p:spPr>
          <p:txBody>
            <a:bodyPr>
              <a:normAutofit/>
            </a:bodyPr>
            <a:lstStyle/>
            <a:p>
              <a:r>
                <a:rPr lang="en-US" sz="2000" b="1" dirty="0">
                  <a:latin typeface="Arial" panose="020B0604020202020204" pitchFamily="34" charset="0"/>
                  <a:cs typeface="Arial" panose="020B0604020202020204" pitchFamily="34" charset="0"/>
                </a:rPr>
                <a:t>Phase Transition Confirmed:</a:t>
              </a:r>
              <a:r>
                <a:rPr lang="en-US" sz="2000" dirty="0">
                  <a:latin typeface="Arial" panose="020B0604020202020204" pitchFamily="34" charset="0"/>
                  <a:cs typeface="Arial" panose="020B0604020202020204" pitchFamily="34" charset="0"/>
                </a:rPr>
                <a:t> Numerical evidence establishes a second-order transition at </a:t>
              </a:r>
              <a:r>
                <a:rPr lang="en-US" sz="2000" dirty="0" err="1">
                  <a:latin typeface="Arial" panose="020B0604020202020204" pitchFamily="34" charset="0"/>
                  <a:cs typeface="Arial" panose="020B0604020202020204" pitchFamily="34" charset="0"/>
                </a:rPr>
                <a:t>T_c</a:t>
              </a:r>
              <a:r>
                <a:rPr lang="en-US" sz="2000" dirty="0">
                  <a:latin typeface="Arial" panose="020B0604020202020204" pitchFamily="34" charset="0"/>
                  <a:cs typeface="Arial" panose="020B0604020202020204" pitchFamily="34" charset="0"/>
                </a:rPr>
                <a:t> = 2.27.</a:t>
              </a:r>
            </a:p>
            <a:p>
              <a:r>
                <a:rPr lang="en-US" sz="2000" b="1" dirty="0">
                  <a:latin typeface="Arial" panose="020B0604020202020204" pitchFamily="34" charset="0"/>
                  <a:cs typeface="Arial" panose="020B0604020202020204" pitchFamily="34" charset="0"/>
                </a:rPr>
                <a:t>Universality Class:</a:t>
              </a:r>
              <a:r>
                <a:rPr lang="en-US" sz="2000" dirty="0">
                  <a:latin typeface="Arial" panose="020B0604020202020204" pitchFamily="34" charset="0"/>
                  <a:cs typeface="Arial" panose="020B0604020202020204" pitchFamily="34" charset="0"/>
                </a:rPr>
                <a:t> Critical exponents align with the 2D Ising model predictions within 0.5% error.</a:t>
              </a:r>
            </a:p>
            <a:p>
              <a:r>
                <a:rPr lang="en-US" sz="2000" b="1" dirty="0">
                  <a:latin typeface="Arial" panose="020B0604020202020204" pitchFamily="34" charset="0"/>
                  <a:cs typeface="Arial" panose="020B0604020202020204" pitchFamily="34" charset="0"/>
                </a:rPr>
                <a:t>Algorithm Efficiency:</a:t>
              </a:r>
              <a:r>
                <a:rPr lang="en-US" sz="2000" dirty="0">
                  <a:latin typeface="Arial" panose="020B0604020202020204" pitchFamily="34" charset="0"/>
                  <a:cs typeface="Arial" panose="020B0604020202020204" pitchFamily="34" charset="0"/>
                </a:rPr>
                <a:t> The optimized tensor network approach reduces computational cost by order 2.</a:t>
              </a:r>
            </a:p>
          </p:txBody>
        </p:sp>
        <p:sp>
          <p:nvSpPr>
            <p:cNvPr id="5" name="Content Placeholder 2">
              <a:extLst>
                <a:ext uri="{FF2B5EF4-FFF2-40B4-BE49-F238E27FC236}">
                  <a16:creationId xmlns:a16="http://schemas.microsoft.com/office/drawing/2014/main" id="{10051829-4A2D-4A33-54F3-1AE4881977A5}"/>
                </a:ext>
              </a:extLst>
            </p:cNvPr>
            <p:cNvSpPr txBox="1">
              <a:spLocks noGrp="1" noRot="1" noMove="1" noResize="1" noEditPoints="1" noAdjustHandles="1" noChangeArrowheads="1" noChangeShapeType="1"/>
            </p:cNvSpPr>
            <p:nvPr/>
          </p:nvSpPr>
          <p:spPr>
            <a:xfrm>
              <a:off x="332960" y="1426194"/>
              <a:ext cx="5519200" cy="5547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latin typeface="Arial" panose="020B0604020202020204" pitchFamily="34" charset="0"/>
                  <a:cs typeface="Arial" panose="020B0604020202020204" pitchFamily="34" charset="0"/>
                </a:rPr>
                <a:t>Key takeaways</a:t>
              </a:r>
            </a:p>
          </p:txBody>
        </p:sp>
        <p:cxnSp>
          <p:nvCxnSpPr>
            <p:cNvPr id="9" name="Straight Connector 8">
              <a:extLst>
                <a:ext uri="{FF2B5EF4-FFF2-40B4-BE49-F238E27FC236}">
                  <a16:creationId xmlns:a16="http://schemas.microsoft.com/office/drawing/2014/main" id="{211B473A-DF94-F3C7-6009-586B17A79D2C}"/>
                </a:ext>
              </a:extLst>
            </p:cNvPr>
            <p:cNvCxnSpPr>
              <a:cxnSpLocks noGrp="1" noRot="1" noMove="1" noResize="1" noEditPoints="1" noAdjustHandles="1" noChangeArrowheads="1" noChangeShapeType="1"/>
            </p:cNvCxnSpPr>
            <p:nvPr/>
          </p:nvCxnSpPr>
          <p:spPr>
            <a:xfrm>
              <a:off x="428322" y="1969454"/>
              <a:ext cx="2157223" cy="0"/>
            </a:xfrm>
            <a:prstGeom prst="line">
              <a:avLst/>
            </a:prstGeom>
            <a:ln w="381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grpSp>
      <p:grpSp>
        <p:nvGrpSpPr>
          <p:cNvPr id="21" name="Group 20">
            <a:extLst>
              <a:ext uri="{FF2B5EF4-FFF2-40B4-BE49-F238E27FC236}">
                <a16:creationId xmlns:a16="http://schemas.microsoft.com/office/drawing/2014/main" id="{E4B68385-70A2-C772-3A82-0FC943D6FB90}"/>
              </a:ext>
            </a:extLst>
          </p:cNvPr>
          <p:cNvGrpSpPr>
            <a:grpSpLocks noGrp="1" noUngrp="1" noRot="1" noMove="1" noResize="1"/>
          </p:cNvGrpSpPr>
          <p:nvPr/>
        </p:nvGrpSpPr>
        <p:grpSpPr>
          <a:xfrm>
            <a:off x="6081775" y="1426195"/>
            <a:ext cx="5519200" cy="4943775"/>
            <a:chOff x="6081775" y="1426195"/>
            <a:chExt cx="5519200" cy="4943775"/>
          </a:xfrm>
        </p:grpSpPr>
        <p:sp>
          <p:nvSpPr>
            <p:cNvPr id="15" name="Content Placeholder 2">
              <a:extLst>
                <a:ext uri="{FF2B5EF4-FFF2-40B4-BE49-F238E27FC236}">
                  <a16:creationId xmlns:a16="http://schemas.microsoft.com/office/drawing/2014/main" id="{6866E82C-8DD2-A342-A27A-55E2EA074428}"/>
                </a:ext>
              </a:extLst>
            </p:cNvPr>
            <p:cNvSpPr txBox="1">
              <a:spLocks noGrp="1" noRot="1" noMove="1" noResize="1" noEditPoints="1" noAdjustHandles="1" noChangeArrowheads="1" noChangeShapeType="1"/>
            </p:cNvSpPr>
            <p:nvPr/>
          </p:nvSpPr>
          <p:spPr>
            <a:xfrm>
              <a:off x="6081775" y="2133633"/>
              <a:ext cx="5519200" cy="4236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Arial" panose="020B0604020202020204" pitchFamily="34" charset="0"/>
                  <a:cs typeface="Arial" panose="020B0604020202020204" pitchFamily="34" charset="0"/>
                </a:rPr>
                <a:t>Extension to </a:t>
              </a:r>
              <a:r>
                <a:rPr lang="en-US" sz="2000" b="1" dirty="0">
                  <a:latin typeface="Arial" panose="020B0604020202020204" pitchFamily="34" charset="0"/>
                  <a:cs typeface="Arial" panose="020B0604020202020204" pitchFamily="34" charset="0"/>
                </a:rPr>
                <a:t>3D lattice systems</a:t>
              </a:r>
              <a:r>
                <a:rPr lang="en-US" sz="2000" dirty="0">
                  <a:latin typeface="Arial" panose="020B0604020202020204" pitchFamily="34" charset="0"/>
                  <a:cs typeface="Arial" panose="020B0604020202020204" pitchFamily="34" charset="0"/>
                </a:rPr>
                <a:t> to investigate dimensional dependence of entanglement.</a:t>
              </a:r>
            </a:p>
            <a:p>
              <a:r>
                <a:rPr lang="en-US" sz="2000" dirty="0">
                  <a:latin typeface="Arial" panose="020B0604020202020204" pitchFamily="34" charset="0"/>
                  <a:cs typeface="Arial" panose="020B0604020202020204" pitchFamily="34" charset="0"/>
                </a:rPr>
                <a:t>Incorporation of </a:t>
              </a:r>
              <a:r>
                <a:rPr lang="en-US" sz="2000" b="1" dirty="0">
                  <a:latin typeface="Arial" panose="020B0604020202020204" pitchFamily="34" charset="0"/>
                  <a:cs typeface="Arial" panose="020B0604020202020204" pitchFamily="34" charset="0"/>
                </a:rPr>
                <a:t>fermionic fields</a:t>
              </a:r>
              <a:r>
                <a:rPr lang="en-US" sz="2000" dirty="0">
                  <a:latin typeface="Arial" panose="020B0604020202020204" pitchFamily="34" charset="0"/>
                  <a:cs typeface="Arial" panose="020B0604020202020204" pitchFamily="34" charset="0"/>
                </a:rPr>
                <a:t> to study topological phases in superconducting materials.</a:t>
              </a:r>
            </a:p>
            <a:p>
              <a:r>
                <a:rPr lang="en-US" sz="2000" dirty="0">
                  <a:latin typeface="Arial" panose="020B0604020202020204" pitchFamily="34" charset="0"/>
                  <a:cs typeface="Arial" panose="020B0604020202020204" pitchFamily="34" charset="0"/>
                </a:rPr>
                <a:t>Collaboration with experimental groups for validation in </a:t>
              </a:r>
              <a:r>
                <a:rPr lang="en-US" sz="2000" b="1" dirty="0">
                  <a:latin typeface="Arial" panose="020B0604020202020204" pitchFamily="34" charset="0"/>
                  <a:cs typeface="Arial" panose="020B0604020202020204" pitchFamily="34" charset="0"/>
                </a:rPr>
                <a:t>trapped ion quantum simulators</a:t>
              </a:r>
              <a:r>
                <a:rPr lang="en-US" sz="2000" dirty="0">
                  <a:latin typeface="Arial" panose="020B0604020202020204" pitchFamily="34" charset="0"/>
                  <a:cs typeface="Arial" panose="020B0604020202020204" pitchFamily="34" charset="0"/>
                </a:rPr>
                <a:t>.</a:t>
              </a:r>
            </a:p>
          </p:txBody>
        </p:sp>
        <p:sp>
          <p:nvSpPr>
            <p:cNvPr id="16" name="Content Placeholder 2">
              <a:extLst>
                <a:ext uri="{FF2B5EF4-FFF2-40B4-BE49-F238E27FC236}">
                  <a16:creationId xmlns:a16="http://schemas.microsoft.com/office/drawing/2014/main" id="{A9B454D3-3F5A-E84D-3CF0-61DC7386C237}"/>
                </a:ext>
              </a:extLst>
            </p:cNvPr>
            <p:cNvSpPr txBox="1">
              <a:spLocks noGrp="1" noRot="1" noMove="1" noResize="1" noEditPoints="1" noAdjustHandles="1" noChangeArrowheads="1" noChangeShapeType="1"/>
            </p:cNvSpPr>
            <p:nvPr/>
          </p:nvSpPr>
          <p:spPr>
            <a:xfrm>
              <a:off x="6081775" y="1426195"/>
              <a:ext cx="5519200" cy="5547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Arial" panose="020B0604020202020204" pitchFamily="34" charset="0"/>
                  <a:cs typeface="Arial" panose="020B0604020202020204" pitchFamily="34" charset="0"/>
                </a:rPr>
                <a:t>Future directions</a:t>
              </a:r>
            </a:p>
          </p:txBody>
        </p:sp>
        <p:cxnSp>
          <p:nvCxnSpPr>
            <p:cNvPr id="17" name="Straight Connector 16">
              <a:extLst>
                <a:ext uri="{FF2B5EF4-FFF2-40B4-BE49-F238E27FC236}">
                  <a16:creationId xmlns:a16="http://schemas.microsoft.com/office/drawing/2014/main" id="{AF06DB0D-DC82-B688-768A-D0AA3C1AD00B}"/>
                </a:ext>
              </a:extLst>
            </p:cNvPr>
            <p:cNvCxnSpPr>
              <a:cxnSpLocks noGrp="1" noRot="1" noMove="1" noResize="1" noEditPoints="1" noAdjustHandles="1" noChangeArrowheads="1" noChangeShapeType="1"/>
            </p:cNvCxnSpPr>
            <p:nvPr/>
          </p:nvCxnSpPr>
          <p:spPr>
            <a:xfrm>
              <a:off x="6177137" y="1969455"/>
              <a:ext cx="2157223" cy="0"/>
            </a:xfrm>
            <a:prstGeom prst="line">
              <a:avLst/>
            </a:prstGeom>
            <a:ln w="381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132580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50B87-3B1E-35A7-0232-72231B35C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C03A5-B869-B365-343D-CCAFF5470CE0}"/>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r>
              <a:rPr lang="en-US" sz="4000" b="1" dirty="0">
                <a:latin typeface="Arial" panose="020B0604020202020204" pitchFamily="34" charset="0"/>
                <a:cs typeface="Arial" panose="020B0604020202020204" pitchFamily="34" charset="0"/>
              </a:rPr>
              <a:t>Acknowledgements</a:t>
            </a:r>
          </a:p>
        </p:txBody>
      </p:sp>
      <p:grpSp>
        <p:nvGrpSpPr>
          <p:cNvPr id="14" name="Group 13">
            <a:extLst>
              <a:ext uri="{FF2B5EF4-FFF2-40B4-BE49-F238E27FC236}">
                <a16:creationId xmlns:a16="http://schemas.microsoft.com/office/drawing/2014/main" id="{01556246-DFBD-3A41-2FA3-AD01949C88DE}"/>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285049AF-AA5E-4AC3-B50E-41D1A47813AF}"/>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E49BAEDF-6A1A-55C3-E16D-C1F16F3BF351}"/>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2CBC9561-66AA-8866-4687-AA966DC39313}"/>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10" name="Straight Connector 9">
            <a:extLst>
              <a:ext uri="{FF2B5EF4-FFF2-40B4-BE49-F238E27FC236}">
                <a16:creationId xmlns:a16="http://schemas.microsoft.com/office/drawing/2014/main" id="{56A94D9D-E662-672F-932D-176C6FEB2B7C}"/>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2EFF300F-26EF-7C9F-CE2A-CC58CEA4F022}"/>
              </a:ext>
            </a:extLst>
          </p:cNvPr>
          <p:cNvGrpSpPr>
            <a:grpSpLocks noGrp="1" noUngrp="1" noRot="1" noMove="1" noResize="1"/>
          </p:cNvGrpSpPr>
          <p:nvPr/>
        </p:nvGrpSpPr>
        <p:grpSpPr>
          <a:xfrm>
            <a:off x="332960" y="1412376"/>
            <a:ext cx="5519200" cy="4957593"/>
            <a:chOff x="332960" y="1412376"/>
            <a:chExt cx="5519200" cy="4957593"/>
          </a:xfrm>
        </p:grpSpPr>
        <p:sp>
          <p:nvSpPr>
            <p:cNvPr id="19" name="Content Placeholder 2">
              <a:extLst>
                <a:ext uri="{FF2B5EF4-FFF2-40B4-BE49-F238E27FC236}">
                  <a16:creationId xmlns:a16="http://schemas.microsoft.com/office/drawing/2014/main" id="{B994345E-B345-C8B3-D8C7-C1704BE486FB}"/>
                </a:ext>
              </a:extLst>
            </p:cNvPr>
            <p:cNvSpPr>
              <a:spLocks noGrp="1" noRot="1" noMove="1" noResize="1" noEditPoints="1" noAdjustHandles="1" noChangeArrowheads="1" noChangeShapeType="1"/>
            </p:cNvSpPr>
            <p:nvPr>
              <p:ph idx="1"/>
            </p:nvPr>
          </p:nvSpPr>
          <p:spPr>
            <a:xfrm>
              <a:off x="332960" y="2133632"/>
              <a:ext cx="5519200" cy="4236337"/>
            </a:xfrm>
          </p:spPr>
          <p:txBody>
            <a:bodyPr>
              <a:normAutofit/>
            </a:bodyPr>
            <a:lstStyle/>
            <a:p>
              <a:r>
                <a:rPr lang="en-US" sz="2000" dirty="0">
                  <a:latin typeface="Arial" panose="020B0604020202020204" pitchFamily="34" charset="0"/>
                  <a:cs typeface="Arial" panose="020B0604020202020204" pitchFamily="34" charset="0"/>
                </a:rPr>
                <a:t>Prof. A. Einstein, Dr. E. Noether (Institute for Advanced Study)</a:t>
              </a:r>
            </a:p>
            <a:p>
              <a:r>
                <a:rPr lang="en-US" sz="2000" dirty="0">
                  <a:latin typeface="Arial" panose="020B0604020202020204" pitchFamily="34" charset="0"/>
                  <a:cs typeface="Arial" panose="020B0604020202020204" pitchFamily="34" charset="0"/>
                </a:rPr>
                <a:t>Dr. R. Feynman (Caltech) - Path Integral Formulations</a:t>
              </a:r>
            </a:p>
            <a:p>
              <a:r>
                <a:rPr lang="en-US" sz="2000" dirty="0">
                  <a:latin typeface="Arial" panose="020B0604020202020204" pitchFamily="34" charset="0"/>
                  <a:cs typeface="Arial" panose="020B0604020202020204" pitchFamily="34" charset="0"/>
                </a:rPr>
                <a:t>The Quantum Many-Body Dynamics Group</a:t>
              </a:r>
            </a:p>
          </p:txBody>
        </p:sp>
        <p:sp>
          <p:nvSpPr>
            <p:cNvPr id="20" name="Content Placeholder 2">
              <a:extLst>
                <a:ext uri="{FF2B5EF4-FFF2-40B4-BE49-F238E27FC236}">
                  <a16:creationId xmlns:a16="http://schemas.microsoft.com/office/drawing/2014/main" id="{0B2EEFDA-3CDF-207F-B694-12FF51BE50B5}"/>
                </a:ext>
              </a:extLst>
            </p:cNvPr>
            <p:cNvSpPr txBox="1">
              <a:spLocks noGrp="1" noRot="1" noMove="1" noResize="1" noEditPoints="1" noAdjustHandles="1" noChangeArrowheads="1" noChangeShapeType="1"/>
            </p:cNvSpPr>
            <p:nvPr/>
          </p:nvSpPr>
          <p:spPr>
            <a:xfrm>
              <a:off x="332960" y="1412376"/>
              <a:ext cx="5519200" cy="5547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Arial" panose="020B0604020202020204" pitchFamily="34" charset="0"/>
                  <a:cs typeface="Arial" panose="020B0604020202020204" pitchFamily="34" charset="0"/>
                </a:rPr>
                <a:t>Collaborators</a:t>
              </a:r>
            </a:p>
          </p:txBody>
        </p:sp>
        <p:cxnSp>
          <p:nvCxnSpPr>
            <p:cNvPr id="21" name="Straight Connector 20">
              <a:extLst>
                <a:ext uri="{FF2B5EF4-FFF2-40B4-BE49-F238E27FC236}">
                  <a16:creationId xmlns:a16="http://schemas.microsoft.com/office/drawing/2014/main" id="{AEA7A564-89F5-6B6E-02A2-8646775FAF33}"/>
                </a:ext>
              </a:extLst>
            </p:cNvPr>
            <p:cNvCxnSpPr>
              <a:cxnSpLocks noGrp="1" noRot="1" noMove="1" noResize="1" noEditPoints="1" noAdjustHandles="1" noChangeArrowheads="1" noChangeShapeType="1"/>
            </p:cNvCxnSpPr>
            <p:nvPr/>
          </p:nvCxnSpPr>
          <p:spPr>
            <a:xfrm>
              <a:off x="428322" y="1969454"/>
              <a:ext cx="2157223" cy="0"/>
            </a:xfrm>
            <a:prstGeom prst="line">
              <a:avLst/>
            </a:prstGeom>
            <a:ln w="381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grpSp>
      <p:grpSp>
        <p:nvGrpSpPr>
          <p:cNvPr id="27" name="Group 26">
            <a:extLst>
              <a:ext uri="{FF2B5EF4-FFF2-40B4-BE49-F238E27FC236}">
                <a16:creationId xmlns:a16="http://schemas.microsoft.com/office/drawing/2014/main" id="{0289D3C7-F467-FDDB-A141-8BE98D7E6E51}"/>
              </a:ext>
            </a:extLst>
          </p:cNvPr>
          <p:cNvGrpSpPr>
            <a:grpSpLocks noGrp="1" noUngrp="1" noRot="1" noMove="1" noResize="1"/>
          </p:cNvGrpSpPr>
          <p:nvPr/>
        </p:nvGrpSpPr>
        <p:grpSpPr>
          <a:xfrm>
            <a:off x="6081775" y="1412377"/>
            <a:ext cx="5519200" cy="4957593"/>
            <a:chOff x="6081775" y="1412377"/>
            <a:chExt cx="5519200" cy="4957593"/>
          </a:xfrm>
        </p:grpSpPr>
        <p:sp>
          <p:nvSpPr>
            <p:cNvPr id="23" name="Content Placeholder 2">
              <a:extLst>
                <a:ext uri="{FF2B5EF4-FFF2-40B4-BE49-F238E27FC236}">
                  <a16:creationId xmlns:a16="http://schemas.microsoft.com/office/drawing/2014/main" id="{0CE71AC9-B402-E616-879D-2AD4DA71A71C}"/>
                </a:ext>
              </a:extLst>
            </p:cNvPr>
            <p:cNvSpPr txBox="1">
              <a:spLocks noGrp="1" noRot="1" noMove="1" noResize="1" noEditPoints="1" noAdjustHandles="1" noChangeArrowheads="1" noChangeShapeType="1"/>
            </p:cNvSpPr>
            <p:nvPr/>
          </p:nvSpPr>
          <p:spPr>
            <a:xfrm>
              <a:off x="6081775" y="2133633"/>
              <a:ext cx="5519200" cy="4236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sz="2000" dirty="0">
                  <a:solidFill>
                    <a:prstClr val="black"/>
                  </a:solidFill>
                  <a:latin typeface="Arial" panose="020B0604020202020204" pitchFamily="34" charset="0"/>
                  <a:cs typeface="Arial" panose="020B0604020202020204" pitchFamily="34" charset="0"/>
                </a:rPr>
                <a:t>ITCPR High-Performance Computing Cluster</a:t>
              </a:r>
            </a:p>
            <a:p>
              <a:pPr lvl="0">
                <a:defRPr/>
              </a:pPr>
              <a:r>
                <a:rPr lang="en-US" sz="2000" dirty="0">
                  <a:solidFill>
                    <a:prstClr val="black"/>
                  </a:solidFill>
                  <a:latin typeface="Arial" panose="020B0604020202020204" pitchFamily="34" charset="0"/>
                  <a:cs typeface="Arial" panose="020B0604020202020204" pitchFamily="34" charset="0"/>
                </a:rPr>
                <a:t>Center for Computational Physics</a:t>
              </a:r>
            </a:p>
          </p:txBody>
        </p:sp>
        <p:sp>
          <p:nvSpPr>
            <p:cNvPr id="24" name="Content Placeholder 2">
              <a:extLst>
                <a:ext uri="{FF2B5EF4-FFF2-40B4-BE49-F238E27FC236}">
                  <a16:creationId xmlns:a16="http://schemas.microsoft.com/office/drawing/2014/main" id="{F176E29C-64D4-B34F-096F-4432C943539F}"/>
                </a:ext>
              </a:extLst>
            </p:cNvPr>
            <p:cNvSpPr txBox="1">
              <a:spLocks noGrp="1" noRot="1" noMove="1" noResize="1" noEditPoints="1" noAdjustHandles="1" noChangeArrowheads="1" noChangeShapeType="1"/>
            </p:cNvSpPr>
            <p:nvPr/>
          </p:nvSpPr>
          <p:spPr>
            <a:xfrm>
              <a:off x="6081775" y="1412377"/>
              <a:ext cx="5519200" cy="55472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b="1" dirty="0">
                  <a:solidFill>
                    <a:prstClr val="black"/>
                  </a:solidFill>
                  <a:latin typeface="Arial" panose="020B0604020202020204" pitchFamily="34" charset="0"/>
                  <a:cs typeface="Arial" panose="020B0604020202020204" pitchFamily="34" charset="0"/>
                </a:rPr>
                <a:t>Facilities</a:t>
              </a:r>
            </a:p>
          </p:txBody>
        </p:sp>
        <p:cxnSp>
          <p:nvCxnSpPr>
            <p:cNvPr id="25" name="Straight Connector 24">
              <a:extLst>
                <a:ext uri="{FF2B5EF4-FFF2-40B4-BE49-F238E27FC236}">
                  <a16:creationId xmlns:a16="http://schemas.microsoft.com/office/drawing/2014/main" id="{F575E6ED-A7D5-DB28-92C3-3B09A1097998}"/>
                </a:ext>
              </a:extLst>
            </p:cNvPr>
            <p:cNvCxnSpPr>
              <a:cxnSpLocks noGrp="1" noRot="1" noMove="1" noResize="1" noEditPoints="1" noAdjustHandles="1" noChangeArrowheads="1" noChangeShapeType="1"/>
            </p:cNvCxnSpPr>
            <p:nvPr/>
          </p:nvCxnSpPr>
          <p:spPr>
            <a:xfrm>
              <a:off x="6177137" y="1969455"/>
              <a:ext cx="2157223" cy="0"/>
            </a:xfrm>
            <a:prstGeom prst="line">
              <a:avLst/>
            </a:prstGeom>
            <a:ln w="381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692900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E87A3-4BD2-A6F8-7103-6AD5A679E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3023B-DE44-8305-0DE8-95D731B65499}"/>
              </a:ext>
            </a:extLst>
          </p:cNvPr>
          <p:cNvSpPr>
            <a:spLocks noGrp="1" noRot="1" noMove="1" noResize="1" noEditPoints="1" noAdjustHandles="1" noChangeArrowheads="1" noChangeShapeType="1"/>
          </p:cNvSpPr>
          <p:nvPr>
            <p:ph type="title"/>
          </p:nvPr>
        </p:nvSpPr>
        <p:spPr>
          <a:xfrm>
            <a:off x="332961" y="18255"/>
            <a:ext cx="11526078" cy="1325563"/>
          </a:xfrm>
        </p:spPr>
        <p:txBody>
          <a:bodyPr>
            <a:normAutofit/>
          </a:bodyPr>
          <a:lstStyle/>
          <a:p>
            <a:r>
              <a:rPr lang="en-US" b="1" dirty="0">
                <a:latin typeface="Arial" panose="020B0604020202020204" pitchFamily="34" charset="0"/>
                <a:cs typeface="Arial" panose="020B0604020202020204" pitchFamily="34" charset="0"/>
              </a:rPr>
              <a:t>References</a:t>
            </a:r>
          </a:p>
        </p:txBody>
      </p:sp>
      <p:grpSp>
        <p:nvGrpSpPr>
          <p:cNvPr id="14" name="Group 13">
            <a:extLst>
              <a:ext uri="{FF2B5EF4-FFF2-40B4-BE49-F238E27FC236}">
                <a16:creationId xmlns:a16="http://schemas.microsoft.com/office/drawing/2014/main" id="{C1B17B79-60F3-D513-8947-E20D08C7B147}"/>
              </a:ext>
            </a:extLst>
          </p:cNvPr>
          <p:cNvGrpSpPr>
            <a:grpSpLocks noGrp="1" noUngrp="1" noRot="1" noMove="1" noResize="1"/>
          </p:cNvGrpSpPr>
          <p:nvPr/>
        </p:nvGrpSpPr>
        <p:grpSpPr>
          <a:xfrm>
            <a:off x="-105875" y="6596390"/>
            <a:ext cx="12297875" cy="261610"/>
            <a:chOff x="-105875" y="6596390"/>
            <a:chExt cx="12297875" cy="261610"/>
          </a:xfrm>
        </p:grpSpPr>
        <p:sp>
          <p:nvSpPr>
            <p:cNvPr id="4" name="TextBox 3">
              <a:extLst>
                <a:ext uri="{FF2B5EF4-FFF2-40B4-BE49-F238E27FC236}">
                  <a16:creationId xmlns:a16="http://schemas.microsoft.com/office/drawing/2014/main" id="{0319D239-872F-0FBB-0841-67A2D571A1B4}"/>
                </a:ext>
              </a:extLst>
            </p:cNvPr>
            <p:cNvSpPr txBox="1">
              <a:spLocks noGrp="1" noRot="1" noMove="1" noResize="1" noEditPoints="1" noAdjustHandles="1" noChangeArrowheads="1" noChangeShapeType="1"/>
            </p:cNvSpPr>
            <p:nvPr/>
          </p:nvSpPr>
          <p:spPr>
            <a:xfrm>
              <a:off x="-105875" y="6596390"/>
              <a:ext cx="4366109"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6" name="Picture 5" descr="A black and white logo&#10;&#10;AI-generated content may be incorrect.">
              <a:extLst>
                <a:ext uri="{FF2B5EF4-FFF2-40B4-BE49-F238E27FC236}">
                  <a16:creationId xmlns:a16="http://schemas.microsoft.com/office/drawing/2014/main" id="{40236B75-075B-E906-37FE-D433C1C757BB}"/>
                </a:ext>
              </a:extLst>
            </p:cNvPr>
            <p:cNvPicPr>
              <a:picLocks noGrp="1" noRot="1" noChangeAspect="1" noMove="1" noResize="1" noEditPoints="1" noAdjustHandles="1" noChangeArrowheads="1" noChangeShapeType="1" noCrop="1"/>
            </p:cNvPicPr>
            <p:nvPr/>
          </p:nvPicPr>
          <p:blipFill>
            <a:blip r:embed="rId2"/>
            <a:srcRect l="17752" t="20666" r="15808" b="26049"/>
            <a:stretch>
              <a:fillRect/>
            </a:stretch>
          </p:blipFill>
          <p:spPr>
            <a:xfrm>
              <a:off x="11806613" y="6660684"/>
              <a:ext cx="225425" cy="155978"/>
            </a:xfrm>
            <a:prstGeom prst="rect">
              <a:avLst/>
            </a:prstGeom>
          </p:spPr>
        </p:pic>
        <p:cxnSp>
          <p:nvCxnSpPr>
            <p:cNvPr id="7" name="Straight Connector 6">
              <a:extLst>
                <a:ext uri="{FF2B5EF4-FFF2-40B4-BE49-F238E27FC236}">
                  <a16:creationId xmlns:a16="http://schemas.microsoft.com/office/drawing/2014/main" id="{8CF6A2FB-CA72-99B7-04C3-A6381F02FA9A}"/>
                </a:ext>
              </a:extLst>
            </p:cNvPr>
            <p:cNvCxnSpPr>
              <a:cxnSpLocks noGrp="1" noRot="1" noMove="1" noResize="1" noEditPoints="1" noAdjustHandles="1" noChangeArrowheads="1" noChangeShapeType="1"/>
            </p:cNvCxnSpPr>
            <p:nvPr/>
          </p:nvCxnSpPr>
          <p:spPr>
            <a:xfrm>
              <a:off x="0" y="6596390"/>
              <a:ext cx="12192000"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cxnSp>
        <p:nvCxnSpPr>
          <p:cNvPr id="10" name="Straight Connector 9">
            <a:extLst>
              <a:ext uri="{FF2B5EF4-FFF2-40B4-BE49-F238E27FC236}">
                <a16:creationId xmlns:a16="http://schemas.microsoft.com/office/drawing/2014/main" id="{A0431825-E801-0D22-2971-A194F87DA898}"/>
              </a:ext>
            </a:extLst>
          </p:cNvPr>
          <p:cNvCxnSpPr>
            <a:cxnSpLocks noGrp="1" noRot="1" noMove="1" noResize="1" noEditPoints="1" noAdjustHandles="1" noChangeArrowheads="1" noChangeShapeType="1"/>
          </p:cNvCxnSpPr>
          <p:nvPr/>
        </p:nvCxnSpPr>
        <p:spPr>
          <a:xfrm>
            <a:off x="-127322" y="1234942"/>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9" name="Content Placeholder 2">
            <a:extLst>
              <a:ext uri="{FF2B5EF4-FFF2-40B4-BE49-F238E27FC236}">
                <a16:creationId xmlns:a16="http://schemas.microsoft.com/office/drawing/2014/main" id="{60BFF720-6E7F-1387-CC22-C44E185B20E8}"/>
              </a:ext>
            </a:extLst>
          </p:cNvPr>
          <p:cNvSpPr>
            <a:spLocks noGrp="1" noRot="1" noMove="1" noResize="1" noEditPoints="1" noAdjustHandles="1" noChangeArrowheads="1" noChangeShapeType="1"/>
          </p:cNvSpPr>
          <p:nvPr>
            <p:ph idx="1"/>
          </p:nvPr>
        </p:nvSpPr>
        <p:spPr>
          <a:xfrm>
            <a:off x="332960" y="1541430"/>
            <a:ext cx="5519200" cy="4828540"/>
          </a:xfrm>
        </p:spPr>
        <p:txBody>
          <a:bodyPr>
            <a:normAutofit/>
          </a:bodyPr>
          <a:lstStyle/>
          <a:p>
            <a:pPr marL="342900" indent="-342900">
              <a:buFont typeface="+mj-lt"/>
              <a:buAutoNum type="arabicPeriod"/>
            </a:pPr>
            <a:r>
              <a:rPr lang="en-US" sz="1600" dirty="0">
                <a:latin typeface="Arial" panose="020B0604020202020204" pitchFamily="34" charset="0"/>
                <a:cs typeface="Arial" panose="020B0604020202020204" pitchFamily="34" charset="0"/>
              </a:rPr>
              <a:t>S. Sachdev, </a:t>
            </a:r>
            <a:r>
              <a:rPr lang="en-US" sz="1600" i="1" dirty="0">
                <a:latin typeface="Arial" panose="020B0604020202020204" pitchFamily="34" charset="0"/>
                <a:cs typeface="Arial" panose="020B0604020202020204" pitchFamily="34" charset="0"/>
              </a:rPr>
              <a:t>Quantum Phase Transitions</a:t>
            </a:r>
            <a:r>
              <a:rPr lang="en-US" sz="1600" dirty="0">
                <a:latin typeface="Arial" panose="020B0604020202020204" pitchFamily="34" charset="0"/>
                <a:cs typeface="Arial" panose="020B0604020202020204" pitchFamily="34" charset="0"/>
              </a:rPr>
              <a:t> (Cambridge University Press, 2011).</a:t>
            </a:r>
          </a:p>
          <a:p>
            <a:pPr marL="342900" indent="-342900">
              <a:buFont typeface="+mj-lt"/>
              <a:buAutoNum type="arabicPeriod"/>
            </a:pPr>
            <a:r>
              <a:rPr lang="en-US" sz="1600" dirty="0">
                <a:latin typeface="Arial" panose="020B0604020202020204" pitchFamily="34" charset="0"/>
                <a:cs typeface="Arial" panose="020B0604020202020204" pitchFamily="34" charset="0"/>
              </a:rPr>
              <a:t>P. Calabrese and J. Cardy, Entanglement entropy and quantum field theory, </a:t>
            </a:r>
            <a:r>
              <a:rPr lang="en-US" sz="1600" i="1" dirty="0">
                <a:latin typeface="Arial" panose="020B0604020202020204" pitchFamily="34" charset="0"/>
                <a:cs typeface="Arial" panose="020B0604020202020204" pitchFamily="34" charset="0"/>
              </a:rPr>
              <a:t>J. Stat. Mech.</a:t>
            </a:r>
            <a:r>
              <a:rPr lang="en-US" sz="1600" dirty="0">
                <a:latin typeface="Arial" panose="020B0604020202020204" pitchFamily="34" charset="0"/>
                <a:cs typeface="Arial" panose="020B0604020202020204" pitchFamily="34" charset="0"/>
              </a:rPr>
              <a:t> 0406, P06002 (2004).</a:t>
            </a:r>
          </a:p>
          <a:p>
            <a:pPr marL="342900" indent="-342900">
              <a:buFont typeface="+mj-lt"/>
              <a:buAutoNum type="arabicPeriod"/>
            </a:pPr>
            <a:r>
              <a:rPr lang="en-US" sz="1600" dirty="0">
                <a:latin typeface="Arial" panose="020B0604020202020204" pitchFamily="34" charset="0"/>
                <a:cs typeface="Arial" panose="020B0604020202020204" pitchFamily="34" charset="0"/>
              </a:rPr>
              <a:t>M. B. Hastings, An area law for one-dimensional quantum systems, </a:t>
            </a:r>
            <a:r>
              <a:rPr lang="en-US" sz="1600" i="1" dirty="0">
                <a:latin typeface="Arial" panose="020B0604020202020204" pitchFamily="34" charset="0"/>
                <a:cs typeface="Arial" panose="020B0604020202020204" pitchFamily="34" charset="0"/>
              </a:rPr>
              <a:t>J. Stat. Mech.</a:t>
            </a:r>
            <a:r>
              <a:rPr lang="en-US" sz="1600" dirty="0">
                <a:latin typeface="Arial" panose="020B0604020202020204" pitchFamily="34" charset="0"/>
                <a:cs typeface="Arial" panose="020B0604020202020204" pitchFamily="34" charset="0"/>
              </a:rPr>
              <a:t> 2007, P08024 (2007).</a:t>
            </a:r>
          </a:p>
          <a:p>
            <a:pPr marL="342900" indent="-342900">
              <a:buFont typeface="+mj-lt"/>
              <a:buAutoNum type="arabicPeriod"/>
            </a:pPr>
            <a:r>
              <a:rPr lang="en-US" sz="1600" dirty="0">
                <a:latin typeface="Arial" panose="020B0604020202020204" pitchFamily="34" charset="0"/>
                <a:cs typeface="Arial" panose="020B0604020202020204" pitchFamily="34" charset="0"/>
              </a:rPr>
              <a:t>U. </a:t>
            </a:r>
            <a:r>
              <a:rPr lang="en-US" sz="1600" dirty="0" err="1">
                <a:latin typeface="Arial" panose="020B0604020202020204" pitchFamily="34" charset="0"/>
                <a:cs typeface="Arial" panose="020B0604020202020204" pitchFamily="34" charset="0"/>
              </a:rPr>
              <a:t>Schollwöck</a:t>
            </a:r>
            <a:r>
              <a:rPr lang="en-US" sz="1600" dirty="0">
                <a:latin typeface="Arial" panose="020B0604020202020204" pitchFamily="34" charset="0"/>
                <a:cs typeface="Arial" panose="020B0604020202020204" pitchFamily="34" charset="0"/>
              </a:rPr>
              <a:t>, The density-matrix renormalization group in the age of matrix product states, </a:t>
            </a:r>
            <a:r>
              <a:rPr lang="en-US" sz="1600" i="1" dirty="0">
                <a:latin typeface="Arial" panose="020B0604020202020204" pitchFamily="34" charset="0"/>
                <a:cs typeface="Arial" panose="020B0604020202020204" pitchFamily="34" charset="0"/>
              </a:rPr>
              <a:t>Ann. Phys.</a:t>
            </a:r>
            <a:r>
              <a:rPr lang="en-US" sz="1600" dirty="0">
                <a:latin typeface="Arial" panose="020B0604020202020204" pitchFamily="34" charset="0"/>
                <a:cs typeface="Arial" panose="020B0604020202020204" pitchFamily="34" charset="0"/>
              </a:rPr>
              <a:t> 326, 96 (2011).</a:t>
            </a:r>
          </a:p>
          <a:p>
            <a:pPr marL="342900" indent="-342900">
              <a:buFont typeface="+mj-lt"/>
              <a:buAutoNum type="arabicPeriod"/>
            </a:pPr>
            <a:r>
              <a:rPr lang="en-US" sz="1600" dirty="0">
                <a:latin typeface="Arial" panose="020B0604020202020204" pitchFamily="34" charset="0"/>
                <a:cs typeface="Arial" panose="020B0604020202020204" pitchFamily="34" charset="0"/>
              </a:rPr>
              <a:t>J. Eisert, M. Cramer, and M. B. </a:t>
            </a:r>
            <a:r>
              <a:rPr lang="en-US" sz="1600" dirty="0" err="1">
                <a:latin typeface="Arial" panose="020B0604020202020204" pitchFamily="34" charset="0"/>
                <a:cs typeface="Arial" panose="020B0604020202020204" pitchFamily="34" charset="0"/>
              </a:rPr>
              <a:t>Plenio</a:t>
            </a:r>
            <a:r>
              <a:rPr lang="en-US" sz="1600" dirty="0">
                <a:latin typeface="Arial" panose="020B0604020202020204" pitchFamily="34" charset="0"/>
                <a:cs typeface="Arial" panose="020B0604020202020204" pitchFamily="34" charset="0"/>
              </a:rPr>
              <a:t>, Colloquium: Area laws for the entanglement entropy, </a:t>
            </a:r>
            <a:r>
              <a:rPr lang="en-US" sz="1600" i="1" dirty="0">
                <a:latin typeface="Arial" panose="020B0604020202020204" pitchFamily="34" charset="0"/>
                <a:cs typeface="Arial" panose="020B0604020202020204" pitchFamily="34" charset="0"/>
              </a:rPr>
              <a:t>Rev. Mod. Phys.</a:t>
            </a:r>
            <a:r>
              <a:rPr lang="en-US" sz="1600" dirty="0">
                <a:latin typeface="Arial" panose="020B0604020202020204" pitchFamily="34" charset="0"/>
                <a:cs typeface="Arial" panose="020B0604020202020204" pitchFamily="34" charset="0"/>
              </a:rPr>
              <a:t> 82, 277 (2010).</a:t>
            </a:r>
          </a:p>
        </p:txBody>
      </p:sp>
      <p:sp>
        <p:nvSpPr>
          <p:cNvPr id="23" name="Content Placeholder 2">
            <a:extLst>
              <a:ext uri="{FF2B5EF4-FFF2-40B4-BE49-F238E27FC236}">
                <a16:creationId xmlns:a16="http://schemas.microsoft.com/office/drawing/2014/main" id="{3766A5F4-70B0-2A17-6D6D-1A4E561EC84C}"/>
              </a:ext>
            </a:extLst>
          </p:cNvPr>
          <p:cNvSpPr txBox="1">
            <a:spLocks noGrp="1" noRot="1" noMove="1" noResize="1" noEditPoints="1" noAdjustHandles="1" noChangeArrowheads="1" noChangeShapeType="1"/>
          </p:cNvSpPr>
          <p:nvPr/>
        </p:nvSpPr>
        <p:spPr>
          <a:xfrm>
            <a:off x="6081775" y="1541431"/>
            <a:ext cx="5519200" cy="48285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1600" dirty="0">
                <a:latin typeface="Arial" panose="020B0604020202020204" pitchFamily="34" charset="0"/>
                <a:cs typeface="Arial" panose="020B0604020202020204" pitchFamily="34" charset="0"/>
              </a:rPr>
              <a:t>G. Vidal, Efficient Simulation of One-Dimensional Quantum Many-Body Systems, </a:t>
            </a:r>
            <a:r>
              <a:rPr lang="en-US" sz="1600" i="1" dirty="0">
                <a:latin typeface="Arial" panose="020B0604020202020204" pitchFamily="34" charset="0"/>
                <a:cs typeface="Arial" panose="020B0604020202020204" pitchFamily="34" charset="0"/>
              </a:rPr>
              <a:t>Phys. Rev. Lett.</a:t>
            </a:r>
            <a:r>
              <a:rPr lang="en-US" sz="1600" dirty="0">
                <a:latin typeface="Arial" panose="020B0604020202020204" pitchFamily="34" charset="0"/>
                <a:cs typeface="Arial" panose="020B0604020202020204" pitchFamily="34" charset="0"/>
              </a:rPr>
              <a:t> 93, 040502 (2004).</a:t>
            </a:r>
          </a:p>
          <a:p>
            <a:pPr marL="342900" indent="-342900">
              <a:buFont typeface="+mj-lt"/>
              <a:buAutoNum type="arabicPeriod" startAt="6"/>
            </a:pPr>
            <a:r>
              <a:rPr lang="en-US" sz="1600" dirty="0">
                <a:latin typeface="Arial" panose="020B0604020202020204" pitchFamily="34" charset="0"/>
                <a:cs typeface="Arial" panose="020B0604020202020204" pitchFamily="34" charset="0"/>
              </a:rPr>
              <a:t>L. Amico, R. Fazio, A. Osterloh, and V. Vedral, Entanglement in many-body systems, </a:t>
            </a:r>
            <a:r>
              <a:rPr lang="en-US" sz="1600" i="1" dirty="0">
                <a:latin typeface="Arial" panose="020B0604020202020204" pitchFamily="34" charset="0"/>
                <a:cs typeface="Arial" panose="020B0604020202020204" pitchFamily="34" charset="0"/>
              </a:rPr>
              <a:t>Rev. Mod. Phys.</a:t>
            </a:r>
            <a:r>
              <a:rPr lang="en-US" sz="1600" dirty="0">
                <a:latin typeface="Arial" panose="020B0604020202020204" pitchFamily="34" charset="0"/>
                <a:cs typeface="Arial" panose="020B0604020202020204" pitchFamily="34" charset="0"/>
              </a:rPr>
              <a:t> 80, 517 (2008).</a:t>
            </a:r>
          </a:p>
          <a:p>
            <a:pPr marL="342900" indent="-342900">
              <a:buFont typeface="+mj-lt"/>
              <a:buAutoNum type="arabicPeriod" startAt="6"/>
            </a:pPr>
            <a:r>
              <a:rPr lang="en-US" sz="1600" dirty="0">
                <a:latin typeface="Arial" panose="020B0604020202020204" pitchFamily="34" charset="0"/>
                <a:cs typeface="Arial" panose="020B0604020202020204" pitchFamily="34" charset="0"/>
              </a:rPr>
              <a:t>F. Verstraete, V. </a:t>
            </a:r>
            <a:r>
              <a:rPr lang="en-US" sz="1600" dirty="0" err="1">
                <a:latin typeface="Arial" panose="020B0604020202020204" pitchFamily="34" charset="0"/>
                <a:cs typeface="Arial" panose="020B0604020202020204" pitchFamily="34" charset="0"/>
              </a:rPr>
              <a:t>Murg</a:t>
            </a:r>
            <a:r>
              <a:rPr lang="en-US" sz="1600" dirty="0">
                <a:latin typeface="Arial" panose="020B0604020202020204" pitchFamily="34" charset="0"/>
                <a:cs typeface="Arial" panose="020B0604020202020204" pitchFamily="34" charset="0"/>
              </a:rPr>
              <a:t>, and J. I. </a:t>
            </a:r>
            <a:r>
              <a:rPr lang="en-US" sz="1600" dirty="0" err="1">
                <a:latin typeface="Arial" panose="020B0604020202020204" pitchFamily="34" charset="0"/>
                <a:cs typeface="Arial" panose="020B0604020202020204" pitchFamily="34" charset="0"/>
              </a:rPr>
              <a:t>Cirac</a:t>
            </a:r>
            <a:r>
              <a:rPr lang="en-US" sz="1600" dirty="0">
                <a:latin typeface="Arial" panose="020B0604020202020204" pitchFamily="34" charset="0"/>
                <a:cs typeface="Arial" panose="020B0604020202020204" pitchFamily="34" charset="0"/>
              </a:rPr>
              <a:t>, Matrix product states, projected entangled pair states, and variational renormalization group methods, </a:t>
            </a:r>
            <a:r>
              <a:rPr lang="en-US" sz="1600" i="1" dirty="0">
                <a:latin typeface="Arial" panose="020B0604020202020204" pitchFamily="34" charset="0"/>
                <a:cs typeface="Arial" panose="020B0604020202020204" pitchFamily="34" charset="0"/>
              </a:rPr>
              <a:t>Adv. Phys.</a:t>
            </a:r>
            <a:r>
              <a:rPr lang="en-US" sz="1600" dirty="0">
                <a:latin typeface="Arial" panose="020B0604020202020204" pitchFamily="34" charset="0"/>
                <a:cs typeface="Arial" panose="020B0604020202020204" pitchFamily="34" charset="0"/>
              </a:rPr>
              <a:t> 57, 143 (2008).</a:t>
            </a:r>
          </a:p>
        </p:txBody>
      </p:sp>
    </p:spTree>
    <p:extLst>
      <p:ext uri="{BB962C8B-B14F-4D97-AF65-F5344CB8AC3E}">
        <p14:creationId xmlns:p14="http://schemas.microsoft.com/office/powerpoint/2010/main" val="708489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D0C91-CD1F-D042-E34D-ECA4031ED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AF359-D877-2DF1-7D5F-AC658B638C11}"/>
              </a:ext>
            </a:extLst>
          </p:cNvPr>
          <p:cNvSpPr>
            <a:spLocks noGrp="1" noRot="1" noMove="1" noResize="1" noEditPoints="1" noAdjustHandles="1" noChangeArrowheads="1" noChangeShapeType="1"/>
          </p:cNvSpPr>
          <p:nvPr>
            <p:ph type="title"/>
          </p:nvPr>
        </p:nvSpPr>
        <p:spPr>
          <a:xfrm>
            <a:off x="332961" y="2137226"/>
            <a:ext cx="11526078" cy="1325563"/>
          </a:xfrm>
        </p:spPr>
        <p:txBody>
          <a:bodyPr>
            <a:normAutofit/>
          </a:bodyPr>
          <a:lstStyle/>
          <a:p>
            <a:pPr algn="ctr"/>
            <a:r>
              <a:rPr lang="en-US" sz="6000" b="1" dirty="0">
                <a:latin typeface="Arial" panose="020B0604020202020204" pitchFamily="34" charset="0"/>
                <a:cs typeface="Arial" panose="020B0604020202020204" pitchFamily="34" charset="0"/>
              </a:rPr>
              <a:t>Thank You</a:t>
            </a:r>
            <a:endParaRPr lang="en-US" sz="6000" dirty="0">
              <a:latin typeface="Arial" panose="020B0604020202020204" pitchFamily="34" charset="0"/>
              <a:cs typeface="Arial" panose="020B0604020202020204" pitchFamily="34" charset="0"/>
            </a:endParaRPr>
          </a:p>
        </p:txBody>
      </p:sp>
      <p:sp>
        <p:nvSpPr>
          <p:cNvPr id="9" name="Subtitle 2">
            <a:extLst>
              <a:ext uri="{FF2B5EF4-FFF2-40B4-BE49-F238E27FC236}">
                <a16:creationId xmlns:a16="http://schemas.microsoft.com/office/drawing/2014/main" id="{9E0A8060-B67A-4720-1224-0E428DD691BB}"/>
              </a:ext>
            </a:extLst>
          </p:cNvPr>
          <p:cNvSpPr txBox="1">
            <a:spLocks noGrp="1" noRot="1" noMove="1" noResize="1" noEditPoints="1" noAdjustHandles="1" noChangeArrowheads="1" noChangeShapeType="1"/>
          </p:cNvSpPr>
          <p:nvPr/>
        </p:nvSpPr>
        <p:spPr>
          <a:xfrm>
            <a:off x="345153" y="3365253"/>
            <a:ext cx="11473652" cy="479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latin typeface="Arial" panose="020B0604020202020204" pitchFamily="34" charset="0"/>
                <a:cs typeface="Arial" panose="020B0604020202020204" pitchFamily="34" charset="0"/>
              </a:rPr>
              <a:t>Questions?</a:t>
            </a:r>
          </a:p>
        </p:txBody>
      </p:sp>
      <p:cxnSp>
        <p:nvCxnSpPr>
          <p:cNvPr id="10" name="Straight Connector 9">
            <a:extLst>
              <a:ext uri="{FF2B5EF4-FFF2-40B4-BE49-F238E27FC236}">
                <a16:creationId xmlns:a16="http://schemas.microsoft.com/office/drawing/2014/main" id="{A803D514-896F-7505-AA56-3D263DD14394}"/>
              </a:ext>
            </a:extLst>
          </p:cNvPr>
          <p:cNvCxnSpPr>
            <a:cxnSpLocks noGrp="1" noRot="1" noMove="1" noResize="1" noEditPoints="1" noAdjustHandles="1" noChangeArrowheads="1" noChangeShapeType="1"/>
          </p:cNvCxnSpPr>
          <p:nvPr/>
        </p:nvCxnSpPr>
        <p:spPr>
          <a:xfrm>
            <a:off x="5181600" y="2119849"/>
            <a:ext cx="1828800" cy="0"/>
          </a:xfrm>
          <a:prstGeom prst="line">
            <a:avLst/>
          </a:prstGeom>
          <a:ln w="38100">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pic>
        <p:nvPicPr>
          <p:cNvPr id="3" name="Picture 2" descr="A black and white logo&#10;&#10;AI-generated content may be incorrect.">
            <a:extLst>
              <a:ext uri="{FF2B5EF4-FFF2-40B4-BE49-F238E27FC236}">
                <a16:creationId xmlns:a16="http://schemas.microsoft.com/office/drawing/2014/main" id="{2F68DB56-2D98-4DA6-5794-FB4B3CF812CE}"/>
              </a:ext>
            </a:extLst>
          </p:cNvPr>
          <p:cNvPicPr>
            <a:picLocks noGrp="1" noRot="1" noMove="1" noResize="1" noEditPoints="1" noAdjustHandles="1" noChangeArrowheads="1" noChangeShapeType="1" noCrop="1"/>
          </p:cNvPicPr>
          <p:nvPr/>
        </p:nvPicPr>
        <p:blipFill>
          <a:blip r:embed="rId2"/>
          <a:stretch>
            <a:fillRect/>
          </a:stretch>
        </p:blipFill>
        <p:spPr>
          <a:xfrm>
            <a:off x="5433441" y="87326"/>
            <a:ext cx="1325118" cy="1143239"/>
          </a:xfrm>
          <a:prstGeom prst="rect">
            <a:avLst/>
          </a:prstGeom>
        </p:spPr>
      </p:pic>
      <p:grpSp>
        <p:nvGrpSpPr>
          <p:cNvPr id="5" name="Group 4">
            <a:extLst>
              <a:ext uri="{FF2B5EF4-FFF2-40B4-BE49-F238E27FC236}">
                <a16:creationId xmlns:a16="http://schemas.microsoft.com/office/drawing/2014/main" id="{6899D39D-581D-9DEA-DBFF-DA3FCD5EBA48}"/>
              </a:ext>
            </a:extLst>
          </p:cNvPr>
          <p:cNvGrpSpPr/>
          <p:nvPr/>
        </p:nvGrpSpPr>
        <p:grpSpPr>
          <a:xfrm>
            <a:off x="-127322" y="6596390"/>
            <a:ext cx="12465935" cy="261610"/>
            <a:chOff x="-127322" y="6596390"/>
            <a:chExt cx="12465935" cy="261610"/>
          </a:xfrm>
        </p:grpSpPr>
        <p:sp>
          <p:nvSpPr>
            <p:cNvPr id="8" name="TextBox 7">
              <a:extLst>
                <a:ext uri="{FF2B5EF4-FFF2-40B4-BE49-F238E27FC236}">
                  <a16:creationId xmlns:a16="http://schemas.microsoft.com/office/drawing/2014/main" id="{053CA5C4-8CBE-1468-C338-751E253B16BB}"/>
                </a:ext>
              </a:extLst>
            </p:cNvPr>
            <p:cNvSpPr txBox="1"/>
            <p:nvPr/>
          </p:nvSpPr>
          <p:spPr>
            <a:xfrm>
              <a:off x="3537979" y="6596390"/>
              <a:ext cx="5116041" cy="261610"/>
            </a:xfrm>
            <a:prstGeom prst="rect">
              <a:avLst/>
            </a:prstGeom>
            <a:noFill/>
          </p:spPr>
          <p:txBody>
            <a:bodyPr wrap="square">
              <a:spAutoFit/>
            </a:bodyPr>
            <a:lstStyle/>
            <a:p>
              <a:pPr algn="ctr"/>
              <a:r>
                <a:rPr lang="en-US" sz="1100" b="0" i="0" dirty="0">
                  <a:solidFill>
                    <a:schemeClr val="tx1">
                      <a:lumMod val="50000"/>
                      <a:lumOff val="50000"/>
                    </a:schemeClr>
                  </a:solidFill>
                  <a:effectLst/>
                  <a:latin typeface="Arial" panose="020B0604020202020204" pitchFamily="34" charset="0"/>
                  <a:cs typeface="Arial" panose="020B0604020202020204" pitchFamily="34" charset="0"/>
                </a:rPr>
                <a:t>Institute for Theoretical and Computational Physics Research</a:t>
              </a:r>
              <a:endParaRPr lang="en-US" sz="1100"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11" name="Straight Connector 10">
              <a:extLst>
                <a:ext uri="{FF2B5EF4-FFF2-40B4-BE49-F238E27FC236}">
                  <a16:creationId xmlns:a16="http://schemas.microsoft.com/office/drawing/2014/main" id="{95B22810-EBDD-4AF9-D413-1B7472EB31C9}"/>
                </a:ext>
              </a:extLst>
            </p:cNvPr>
            <p:cNvCxnSpPr/>
            <p:nvPr/>
          </p:nvCxnSpPr>
          <p:spPr>
            <a:xfrm>
              <a:off x="-127322" y="6596390"/>
              <a:ext cx="12465935"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06151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836</Words>
  <Application>Microsoft Macintosh PowerPoint</Application>
  <PresentationFormat>Widescreen</PresentationFormat>
  <Paragraphs>87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Non-Equilibrium Dynamics in Open Quantum Systems</vt:lpstr>
      <vt:lpstr>Presentation Outline</vt:lpstr>
      <vt:lpstr>Theoretical Framework</vt:lpstr>
      <vt:lpstr>Master Equation Dynamics</vt:lpstr>
      <vt:lpstr>Time Evolution of Entanglement Entropy</vt:lpstr>
      <vt:lpstr>Simulation Methodology</vt:lpstr>
      <vt:lpstr>Critical Phenomena &amp; Scaling</vt:lpstr>
      <vt:lpstr>Numerical Results</vt:lpstr>
      <vt:lpstr>Conclusion &amp; Outlook</vt:lpstr>
      <vt:lpstr>Acknowledgements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Abdus Sami Akanda</dc:creator>
  <cp:lastModifiedBy>Md Abdus Sami Akanda</cp:lastModifiedBy>
  <cp:revision>3</cp:revision>
  <dcterms:created xsi:type="dcterms:W3CDTF">2025-12-25T17:44:47Z</dcterms:created>
  <dcterms:modified xsi:type="dcterms:W3CDTF">2025-12-25T21:22:34Z</dcterms:modified>
</cp:coreProperties>
</file>